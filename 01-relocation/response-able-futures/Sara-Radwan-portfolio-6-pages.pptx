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274320"/>
          </a:xfrm>
          <a:prstGeom prst="rect">
            <a:avLst/>
          </a:prstGeom>
          <a:noFill/>
          <a:ln/>
        </p:spPr>
        <p:txBody>
          <a:bodyPr wrap="square" lIns="0" tIns="0" rIns="0" bIns="0" rtlCol="0" anchor="t"/>
          <a:lstStyle/>
          <a:p>
            <a:pPr indent="0" marL="0">
              <a:buNone/>
            </a:pPr>
            <a:r>
              <a:rPr lang="en-US" sz="1100" dirty="0">
                <a:solidFill>
                  <a:srgbClr val="6B7472"/>
                </a:solidFill>
                <a:latin typeface="Arial" pitchFamily="34" charset="0"/>
                <a:ea typeface="Arial" pitchFamily="34" charset="-122"/>
                <a:cs typeface="Arial" pitchFamily="34" charset="-120"/>
              </a:rPr>
              <a:t>SARA RADWAN   Designer and creative director since 2003, Cairo to Abu Dhabi. Most of my work is for public institutions: schools, ministries, a newspaper.</a:t>
            </a:r>
            <a:endParaRPr lang="en-US" sz="1100" dirty="0"/>
          </a:p>
        </p:txBody>
      </p:sp>
      <p:sp>
        <p:nvSpPr>
          <p:cNvPr id="3" name="Text 1"/>
          <p:cNvSpPr txBox="1"/>
          <p:nvPr/>
        </p:nvSpPr>
        <p:spPr>
          <a:xfrm>
            <a:off x="548640" y="777240"/>
            <a:ext cx="7315200" cy="274320"/>
          </a:xfrm>
          <a:prstGeom prst="rect">
            <a:avLst/>
          </a:prstGeom>
          <a:noFill/>
          <a:ln/>
        </p:spPr>
        <p:txBody>
          <a:bodyPr wrap="square" lIns="0" tIns="0" rIns="0" bIns="0" rtlCol="0" anchor="t"/>
          <a:lstStyle/>
          <a:p>
            <a:pPr indent="0" marL="0">
              <a:buNone/>
            </a:pPr>
            <a:r>
              <a:rPr lang="en-US" sz="1100" b="1" spc="100" kern="0" dirty="0">
                <a:solidFill>
                  <a:srgbClr val="6B7472"/>
                </a:solidFill>
                <a:latin typeface="Arial" pitchFamily="34" charset="0"/>
                <a:ea typeface="Arial" pitchFamily="34" charset="-122"/>
                <a:cs typeface="Arial" pitchFamily="34" charset="-120"/>
              </a:rPr>
              <a:t>01   NATIONAL CURRICULUM   UAE Ministry of Education, 2019 to 2021</a:t>
            </a:r>
            <a:endParaRPr lang="en-US" sz="1100" dirty="0"/>
          </a:p>
        </p:txBody>
      </p:sp>
      <p:sp>
        <p:nvSpPr>
          <p:cNvPr id="4" name="Text 2"/>
          <p:cNvSpPr txBox="1"/>
          <p:nvPr/>
        </p:nvSpPr>
        <p:spPr>
          <a:xfrm>
            <a:off x="10728655" y="777240"/>
            <a:ext cx="914400" cy="274320"/>
          </a:xfrm>
          <a:prstGeom prst="rect">
            <a:avLst/>
          </a:prstGeom>
          <a:noFill/>
          <a:ln/>
        </p:spPr>
        <p:txBody>
          <a:bodyPr wrap="square" lIns="0" tIns="0" rIns="0" bIns="0" rtlCol="0" anchor="t"/>
          <a:lstStyle/>
          <a:p>
            <a:pPr algn="r" indent="0" marL="0">
              <a:buNone/>
            </a:pPr>
            <a:r>
              <a:rPr lang="en-US" sz="1100" dirty="0">
                <a:solidFill>
                  <a:srgbClr val="6B7472"/>
                </a:solidFill>
                <a:latin typeface="Arial" pitchFamily="34" charset="0"/>
                <a:ea typeface="Arial" pitchFamily="34" charset="-122"/>
                <a:cs typeface="Arial" pitchFamily="34" charset="-120"/>
              </a:rPr>
              <a:t>1 / 6</a:t>
            </a:r>
            <a:endParaRPr lang="en-US" sz="1100" dirty="0"/>
          </a:p>
        </p:txBody>
      </p:sp>
      <p:sp>
        <p:nvSpPr>
          <p:cNvPr id="5" name="Text 3"/>
          <p:cNvSpPr txBox="1"/>
          <p:nvPr/>
        </p:nvSpPr>
        <p:spPr>
          <a:xfrm>
            <a:off x="548640" y="1143000"/>
            <a:ext cx="4206240" cy="1097280"/>
          </a:xfrm>
          <a:prstGeom prst="rect">
            <a:avLst/>
          </a:prstGeom>
          <a:noFill/>
          <a:ln/>
        </p:spPr>
        <p:txBody>
          <a:bodyPr wrap="square" lIns="0" tIns="0" rIns="0" bIns="0" rtlCol="0" anchor="t"/>
          <a:lstStyle/>
          <a:p>
            <a:pPr indent="0" marL="0">
              <a:buNone/>
            </a:pPr>
            <a:r>
              <a:rPr lang="en-US" sz="3400" b="1" dirty="0">
                <a:solidFill>
                  <a:srgbClr val="1F2A2A"/>
                </a:solidFill>
                <a:latin typeface="Cambria" pitchFamily="34" charset="0"/>
                <a:ea typeface="Cambria" pitchFamily="34" charset="-122"/>
                <a:cs typeface="Cambria" pitchFamily="34" charset="-120"/>
              </a:rPr>
              <a:t>One system,</a:t>
            </a:r>
            <a:endParaRPr lang="en-US" sz="3400" dirty="0"/>
          </a:p>
          <a:p>
            <a:pPr indent="0" marL="0">
              <a:buNone/>
            </a:pPr>
            <a:r>
              <a:rPr lang="en-US" sz="3400" b="1" dirty="0">
                <a:solidFill>
                  <a:srgbClr val="1F2A2A"/>
                </a:solidFill>
                <a:latin typeface="Cambria" pitchFamily="34" charset="0"/>
                <a:ea typeface="Cambria" pitchFamily="34" charset="-122"/>
                <a:cs typeface="Cambria" pitchFamily="34" charset="-120"/>
              </a:rPr>
              <a:t>a hundred books</a:t>
            </a:r>
            <a:endParaRPr lang="en-US" sz="3400" dirty="0"/>
          </a:p>
        </p:txBody>
      </p:sp>
      <p:sp>
        <p:nvSpPr>
          <p:cNvPr id="6" name="Text 4"/>
          <p:cNvSpPr txBox="1"/>
          <p:nvPr/>
        </p:nvSpPr>
        <p:spPr>
          <a:xfrm>
            <a:off x="548640" y="2331720"/>
            <a:ext cx="4206240" cy="3291840"/>
          </a:xfrm>
          <a:prstGeom prst="rect">
            <a:avLst/>
          </a:prstGeom>
          <a:noFill/>
          <a:ln/>
        </p:spPr>
        <p:txBody>
          <a:bodyPr wrap="square" lIns="0" tIns="0" rIns="0" bIns="0" rtlCol="0" anchor="t"/>
          <a:lstStyle/>
          <a:p>
            <a:pPr indent="0" marL="0">
              <a:spcAft>
                <a:spcPts val="900"/>
              </a:spcAft>
              <a:buNone/>
            </a:pPr>
            <a:r>
              <a:rPr lang="en-US" sz="1400" dirty="0">
                <a:solidFill>
                  <a:srgbClr val="1F2A2A"/>
                </a:solidFill>
                <a:latin typeface="Arial" pitchFamily="34" charset="0"/>
                <a:ea typeface="Arial" pitchFamily="34" charset="-122"/>
                <a:cs typeface="Arial" pitchFamily="34" charset="-120"/>
              </a:rPr>
              <a:t>I built the visual and typographic system for the UAE's national school curriculum. Social studies for every grade from KG1 to Grade 12, in student and teacher editions. French at three levels. Two philosophy courses. Covers for music.</a:t>
            </a:r>
            <a:endParaRPr lang="en-US" sz="1400" dirty="0"/>
          </a:p>
          <a:p>
            <a:pPr indent="0" marL="0">
              <a:spcAft>
                <a:spcPts val="900"/>
              </a:spcAft>
              <a:buNone/>
            </a:pPr>
            <a:r>
              <a:rPr lang="en-US" sz="1400" dirty="0">
                <a:solidFill>
                  <a:srgbClr val="1F2A2A"/>
                </a:solidFill>
                <a:latin typeface="Arial" pitchFamily="34" charset="0"/>
                <a:ea typeface="Arial" pitchFamily="34" charset="-122"/>
                <a:cs typeface="Arial" pitchFamily="34" charset="-120"/>
              </a:rPr>
              <a:t>A child meets a rule in one book and has to meet it again in the next, in another subject, sometimes another script. Consistency is what lets a young reader stop decoding the page and start learning.</a:t>
            </a:r>
            <a:endParaRPr lang="en-US" sz="1400" dirty="0"/>
          </a:p>
          <a:p>
            <a:pPr indent="0" marL="0">
              <a:spcAft>
                <a:spcPts val="900"/>
              </a:spcAft>
              <a:buNone/>
            </a:pPr>
            <a:r>
              <a:rPr lang="en-US" sz="1400" dirty="0">
                <a:solidFill>
                  <a:srgbClr val="1F2A2A"/>
                </a:solidFill>
                <a:latin typeface="Arial" pitchFamily="34" charset="0"/>
                <a:ea typeface="Arial" pitchFamily="34" charset="-122"/>
                <a:cs typeface="Arial" pitchFamily="34" charset="-120"/>
              </a:rPr>
              <a:t>A medication leaflet fails the same way a school book does. That is the problem I want to work on in health.</a:t>
            </a:r>
            <a:endParaRPr lang="en-US" sz="1400" dirty="0"/>
          </a:p>
        </p:txBody>
      </p:sp>
      <p:sp>
        <p:nvSpPr>
          <p:cNvPr id="7" name="Text 5"/>
          <p:cNvSpPr txBox="1"/>
          <p:nvPr/>
        </p:nvSpPr>
        <p:spPr>
          <a:xfrm>
            <a:off x="548640" y="5669280"/>
            <a:ext cx="4206240" cy="685800"/>
          </a:xfrm>
          <a:prstGeom prst="rect">
            <a:avLst/>
          </a:prstGeom>
          <a:noFill/>
          <a:ln/>
        </p:spPr>
        <p:txBody>
          <a:bodyPr wrap="square" lIns="0" tIns="0" rIns="0" bIns="0" rtlCol="0" anchor="t"/>
          <a:lstStyle/>
          <a:p>
            <a:pPr indent="0" marL="0">
              <a:buNone/>
            </a:pPr>
            <a:r>
              <a:rPr lang="en-US" sz="1200" dirty="0">
                <a:solidFill>
                  <a:srgbClr val="1F2A2A"/>
                </a:solidFill>
                <a:latin typeface="Arial" pitchFamily="34" charset="0"/>
                <a:ea typeface="Arial" pitchFamily="34" charset="-122"/>
                <a:cs typeface="Arial" pitchFamily="34" charset="-120"/>
              </a:rPr>
              <a:t>My role: creative director and team lead. I designed the system and led the illustrators, designers and layout specialists who applied it. </a:t>
            </a:r>
            <a:pPr indent="0" marL="0">
              <a:buNone/>
            </a:pPr>
            <a:r>
              <a:rPr lang="en-US" sz="1200" i="1" dirty="0">
                <a:solidFill>
                  <a:srgbClr val="B4532A"/>
                </a:solidFill>
                <a:latin typeface="Arial" pitchFamily="34" charset="0"/>
                <a:ea typeface="Arial" pitchFamily="34" charset="-122"/>
                <a:cs typeface="Arial" pitchFamily="34" charset="-120"/>
              </a:rPr>
              <a:t>[Team size]</a:t>
            </a:r>
            <a:endParaRPr lang="en-US" sz="1200" dirty="0"/>
          </a:p>
        </p:txBody>
      </p:sp>
      <p:sp>
        <p:nvSpPr>
          <p:cNvPr id="8" name="Hero spread"/>
          <p:cNvSpPr/>
          <p:nvPr/>
        </p:nvSpPr>
        <p:spPr>
          <a:xfrm>
            <a:off x="5120640" y="1143000"/>
            <a:ext cx="6522415" cy="3794760"/>
          </a:xfrm>
          <a:prstGeom prst="rect">
            <a:avLst/>
          </a:prstGeom>
          <a:solidFill>
            <a:srgbClr val="E6E9E8"/>
          </a:solidFill>
          <a:ln/>
        </p:spPr>
      </p:sp>
      <p:sp>
        <p:nvSpPr>
          <p:cNvPr id="9" name="Image label (delete after adding photo)"/>
          <p:cNvSpPr txBox="1"/>
          <p:nvPr/>
        </p:nvSpPr>
        <p:spPr>
          <a:xfrm>
            <a:off x="5257800" y="1252728"/>
            <a:ext cx="6248095"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HERO  One open spread from a social studies book</a:t>
            </a:r>
            <a:endParaRPr lang="en-US" sz="1000" dirty="0"/>
          </a:p>
        </p:txBody>
      </p:sp>
      <p:sp>
        <p:nvSpPr>
          <p:cNvPr id="10" name="Cover 1"/>
          <p:cNvSpPr/>
          <p:nvPr/>
        </p:nvSpPr>
        <p:spPr>
          <a:xfrm>
            <a:off x="5120640" y="5120640"/>
            <a:ext cx="1158179" cy="1234440"/>
          </a:xfrm>
          <a:prstGeom prst="rect">
            <a:avLst/>
          </a:prstGeom>
          <a:solidFill>
            <a:srgbClr val="E6E9E8"/>
          </a:solidFill>
          <a:ln/>
        </p:spPr>
      </p:sp>
      <p:sp>
        <p:nvSpPr>
          <p:cNvPr id="11" name="Image label (delete after adding photo)"/>
          <p:cNvSpPr txBox="1"/>
          <p:nvPr/>
        </p:nvSpPr>
        <p:spPr>
          <a:xfrm>
            <a:off x="5257800" y="5230368"/>
            <a:ext cx="8838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Cover: social studies</a:t>
            </a:r>
            <a:endParaRPr lang="en-US" sz="1000" dirty="0"/>
          </a:p>
        </p:txBody>
      </p:sp>
      <p:sp>
        <p:nvSpPr>
          <p:cNvPr id="12" name="Cover 2"/>
          <p:cNvSpPr/>
          <p:nvPr/>
        </p:nvSpPr>
        <p:spPr>
          <a:xfrm>
            <a:off x="6461699" y="5120640"/>
            <a:ext cx="1158179" cy="1234440"/>
          </a:xfrm>
          <a:prstGeom prst="rect">
            <a:avLst/>
          </a:prstGeom>
          <a:solidFill>
            <a:srgbClr val="E6E9E8"/>
          </a:solidFill>
          <a:ln/>
        </p:spPr>
      </p:sp>
      <p:sp>
        <p:nvSpPr>
          <p:cNvPr id="13" name="Image label (delete after adding photo)"/>
          <p:cNvSpPr txBox="1"/>
          <p:nvPr/>
        </p:nvSpPr>
        <p:spPr>
          <a:xfrm>
            <a:off x="6598859" y="5230368"/>
            <a:ext cx="8838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Cover: social studies, teacher edition</a:t>
            </a:r>
            <a:endParaRPr lang="en-US" sz="1000" dirty="0"/>
          </a:p>
        </p:txBody>
      </p:sp>
      <p:sp>
        <p:nvSpPr>
          <p:cNvPr id="14" name="Cover 3"/>
          <p:cNvSpPr/>
          <p:nvPr/>
        </p:nvSpPr>
        <p:spPr>
          <a:xfrm>
            <a:off x="7802758" y="5120640"/>
            <a:ext cx="1158179" cy="1234440"/>
          </a:xfrm>
          <a:prstGeom prst="rect">
            <a:avLst/>
          </a:prstGeom>
          <a:solidFill>
            <a:srgbClr val="E6E9E8"/>
          </a:solidFill>
          <a:ln/>
        </p:spPr>
      </p:sp>
      <p:sp>
        <p:nvSpPr>
          <p:cNvPr id="15" name="Image label (delete after adding photo)"/>
          <p:cNvSpPr txBox="1"/>
          <p:nvPr/>
        </p:nvSpPr>
        <p:spPr>
          <a:xfrm>
            <a:off x="7939918" y="5230368"/>
            <a:ext cx="8838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Cover: French</a:t>
            </a:r>
            <a:endParaRPr lang="en-US" sz="1000" dirty="0"/>
          </a:p>
        </p:txBody>
      </p:sp>
      <p:sp>
        <p:nvSpPr>
          <p:cNvPr id="16" name="Cover 4"/>
          <p:cNvSpPr/>
          <p:nvPr/>
        </p:nvSpPr>
        <p:spPr>
          <a:xfrm>
            <a:off x="9143817" y="5120640"/>
            <a:ext cx="1158179" cy="1234440"/>
          </a:xfrm>
          <a:prstGeom prst="rect">
            <a:avLst/>
          </a:prstGeom>
          <a:solidFill>
            <a:srgbClr val="E6E9E8"/>
          </a:solidFill>
          <a:ln/>
        </p:spPr>
      </p:sp>
      <p:sp>
        <p:nvSpPr>
          <p:cNvPr id="17" name="Image label (delete after adding photo)"/>
          <p:cNvSpPr txBox="1"/>
          <p:nvPr/>
        </p:nvSpPr>
        <p:spPr>
          <a:xfrm>
            <a:off x="9280977" y="5230368"/>
            <a:ext cx="8838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Cover: philosophy</a:t>
            </a:r>
            <a:endParaRPr lang="en-US" sz="1000" dirty="0"/>
          </a:p>
        </p:txBody>
      </p:sp>
      <p:sp>
        <p:nvSpPr>
          <p:cNvPr id="18" name="Cover 5"/>
          <p:cNvSpPr/>
          <p:nvPr/>
        </p:nvSpPr>
        <p:spPr>
          <a:xfrm>
            <a:off x="10484876" y="5120640"/>
            <a:ext cx="1158179" cy="1234440"/>
          </a:xfrm>
          <a:prstGeom prst="rect">
            <a:avLst/>
          </a:prstGeom>
          <a:solidFill>
            <a:srgbClr val="E6E9E8"/>
          </a:solidFill>
          <a:ln/>
        </p:spPr>
      </p:sp>
      <p:sp>
        <p:nvSpPr>
          <p:cNvPr id="19" name="Image label (delete after adding photo)"/>
          <p:cNvSpPr txBox="1"/>
          <p:nvPr/>
        </p:nvSpPr>
        <p:spPr>
          <a:xfrm>
            <a:off x="10622036" y="5230368"/>
            <a:ext cx="8838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Cover: music</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997135" cy="274320"/>
          </a:xfrm>
          <a:prstGeom prst="rect">
            <a:avLst/>
          </a:prstGeom>
          <a:noFill/>
          <a:ln/>
        </p:spPr>
        <p:txBody>
          <a:bodyPr wrap="square" lIns="0" tIns="0" rIns="0" bIns="0" rtlCol="0" anchor="t"/>
          <a:lstStyle/>
          <a:p>
            <a:pPr indent="0" marL="0">
              <a:buNone/>
            </a:pPr>
            <a:r>
              <a:rPr lang="en-US" sz="1100" b="1" spc="100" kern="0" dirty="0">
                <a:solidFill>
                  <a:srgbClr val="6B7472"/>
                </a:solidFill>
                <a:latin typeface="Arial" pitchFamily="34" charset="0"/>
                <a:ea typeface="Arial" pitchFamily="34" charset="-122"/>
                <a:cs typeface="Arial" pitchFamily="34" charset="-120"/>
              </a:rPr>
              <a:t>01   NATIONAL CURRICULUM   The decisions</a:t>
            </a:r>
            <a:endParaRPr lang="en-US" sz="1100" dirty="0"/>
          </a:p>
        </p:txBody>
      </p:sp>
      <p:sp>
        <p:nvSpPr>
          <p:cNvPr id="3" name="Text 1"/>
          <p:cNvSpPr txBox="1"/>
          <p:nvPr/>
        </p:nvSpPr>
        <p:spPr>
          <a:xfrm>
            <a:off x="10728655" y="384048"/>
            <a:ext cx="914400" cy="274320"/>
          </a:xfrm>
          <a:prstGeom prst="rect">
            <a:avLst/>
          </a:prstGeom>
          <a:noFill/>
          <a:ln/>
        </p:spPr>
        <p:txBody>
          <a:bodyPr wrap="square" lIns="0" tIns="0" rIns="0" bIns="0" rtlCol="0" anchor="t"/>
          <a:lstStyle/>
          <a:p>
            <a:pPr algn="r" indent="0" marL="0">
              <a:buNone/>
            </a:pPr>
            <a:r>
              <a:rPr lang="en-US" sz="1100" dirty="0">
                <a:solidFill>
                  <a:srgbClr val="6B7472"/>
                </a:solidFill>
                <a:latin typeface="Arial" pitchFamily="34" charset="0"/>
                <a:ea typeface="Arial" pitchFamily="34" charset="-122"/>
                <a:cs typeface="Arial" pitchFamily="34" charset="-120"/>
              </a:rPr>
              <a:t>2 / 6</a:t>
            </a:r>
            <a:endParaRPr lang="en-US" sz="1100" dirty="0"/>
          </a:p>
        </p:txBody>
      </p:sp>
      <p:sp>
        <p:nvSpPr>
          <p:cNvPr id="4" name="Text 2"/>
          <p:cNvSpPr txBox="1"/>
          <p:nvPr/>
        </p:nvSpPr>
        <p:spPr>
          <a:xfrm>
            <a:off x="548640" y="777240"/>
            <a:ext cx="7315200" cy="685800"/>
          </a:xfrm>
          <a:prstGeom prst="rect">
            <a:avLst/>
          </a:prstGeom>
          <a:noFill/>
          <a:ln/>
        </p:spPr>
        <p:txBody>
          <a:bodyPr wrap="square" lIns="0" tIns="0" rIns="0" bIns="0" rtlCol="0" anchor="t"/>
          <a:lstStyle/>
          <a:p>
            <a:pPr indent="0" marL="0">
              <a:buNone/>
            </a:pPr>
            <a:r>
              <a:rPr lang="en-US" sz="3400" b="1" dirty="0">
                <a:solidFill>
                  <a:srgbClr val="1F2A2A"/>
                </a:solidFill>
                <a:latin typeface="Cambria" pitchFamily="34" charset="0"/>
                <a:ea typeface="Cambria" pitchFamily="34" charset="-122"/>
                <a:cs typeface="Cambria" pitchFamily="34" charset="-120"/>
              </a:rPr>
              <a:t>Rules a child can rely on</a:t>
            </a:r>
            <a:endParaRPr lang="en-US" sz="3400" dirty="0"/>
          </a:p>
        </p:txBody>
      </p:sp>
      <p:sp>
        <p:nvSpPr>
          <p:cNvPr id="5" name="System diagram"/>
          <p:cNvSpPr/>
          <p:nvPr/>
        </p:nvSpPr>
        <p:spPr>
          <a:xfrm>
            <a:off x="548640" y="1691640"/>
            <a:ext cx="3931920" cy="2743200"/>
          </a:xfrm>
          <a:prstGeom prst="rect">
            <a:avLst/>
          </a:prstGeom>
          <a:solidFill>
            <a:srgbClr val="E6E9E8"/>
          </a:solidFill>
          <a:ln/>
        </p:spPr>
      </p:sp>
      <p:sp>
        <p:nvSpPr>
          <p:cNvPr id="6" name="Image label (delete after adding photo)"/>
          <p:cNvSpPr txBox="1"/>
          <p:nvPr/>
        </p:nvSpPr>
        <p:spPr>
          <a:xfrm>
            <a:off x="685800" y="1801368"/>
            <a:ext cx="365760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DIAGRAM  One rule set feeding many books: grid, type, colour per subject, student and teacher editions</a:t>
            </a:r>
            <a:endParaRPr lang="en-US" sz="1000" dirty="0"/>
          </a:p>
        </p:txBody>
      </p:sp>
      <p:sp>
        <p:nvSpPr>
          <p:cNvPr id="7" name="Type specimen"/>
          <p:cNvSpPr/>
          <p:nvPr/>
        </p:nvSpPr>
        <p:spPr>
          <a:xfrm>
            <a:off x="548640" y="4617720"/>
            <a:ext cx="1874520" cy="1691640"/>
          </a:xfrm>
          <a:prstGeom prst="rect">
            <a:avLst/>
          </a:prstGeom>
          <a:solidFill>
            <a:srgbClr val="E6E9E8"/>
          </a:solidFill>
          <a:ln/>
        </p:spPr>
      </p:sp>
      <p:sp>
        <p:nvSpPr>
          <p:cNvPr id="8" name="Image label (delete after adding photo)"/>
          <p:cNvSpPr txBox="1"/>
          <p:nvPr/>
        </p:nvSpPr>
        <p:spPr>
          <a:xfrm>
            <a:off x="685800" y="4727448"/>
            <a:ext cx="160020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Type specimen: hierarchy in both scripts</a:t>
            </a:r>
            <a:endParaRPr lang="en-US" sz="1000" dirty="0"/>
          </a:p>
        </p:txBody>
      </p:sp>
      <p:sp>
        <p:nvSpPr>
          <p:cNvPr id="9" name="ePub screen"/>
          <p:cNvSpPr/>
          <p:nvPr/>
        </p:nvSpPr>
        <p:spPr>
          <a:xfrm>
            <a:off x="2606040" y="4617720"/>
            <a:ext cx="1874520" cy="1691640"/>
          </a:xfrm>
          <a:prstGeom prst="rect">
            <a:avLst/>
          </a:prstGeom>
          <a:solidFill>
            <a:srgbClr val="E6E9E8"/>
          </a:solidFill>
          <a:ln/>
        </p:spPr>
      </p:sp>
      <p:sp>
        <p:nvSpPr>
          <p:cNvPr id="10" name="Image label (delete after adding photo)"/>
          <p:cNvSpPr txBox="1"/>
          <p:nvPr/>
        </p:nvSpPr>
        <p:spPr>
          <a:xfrm>
            <a:off x="2743200" y="4727448"/>
            <a:ext cx="160020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ePub screen</a:t>
            </a:r>
            <a:endParaRPr lang="en-US" sz="1000" dirty="0"/>
          </a:p>
        </p:txBody>
      </p:sp>
      <p:sp>
        <p:nvSpPr>
          <p:cNvPr id="11" name="Card 1"/>
          <p:cNvSpPr/>
          <p:nvPr/>
        </p:nvSpPr>
        <p:spPr>
          <a:xfrm>
            <a:off x="4754880" y="1691640"/>
            <a:ext cx="3306928" cy="1783080"/>
          </a:xfrm>
          <a:prstGeom prst="rect">
            <a:avLst/>
          </a:prstGeom>
          <a:solidFill>
            <a:srgbClr val="F2F4F3"/>
          </a:solidFill>
          <a:ln/>
        </p:spPr>
      </p:sp>
      <p:sp>
        <p:nvSpPr>
          <p:cNvPr id="12" name="Text 10"/>
          <p:cNvSpPr txBox="1"/>
          <p:nvPr/>
        </p:nvSpPr>
        <p:spPr>
          <a:xfrm>
            <a:off x="4983480" y="1892808"/>
            <a:ext cx="2849728" cy="320040"/>
          </a:xfrm>
          <a:prstGeom prst="rect">
            <a:avLst/>
          </a:prstGeom>
          <a:noFill/>
          <a:ln/>
        </p:spPr>
        <p:txBody>
          <a:bodyPr wrap="square" lIns="0" tIns="0" rIns="0" bIns="0" rtlCol="0" anchor="t"/>
          <a:lstStyle/>
          <a:p>
            <a:pPr indent="0" marL="0">
              <a:buNone/>
            </a:pPr>
            <a:r>
              <a:rPr lang="en-US" sz="1500" b="1" dirty="0">
                <a:solidFill>
                  <a:srgbClr val="1F2A2A"/>
                </a:solidFill>
                <a:latin typeface="Arial" pitchFamily="34" charset="0"/>
                <a:ea typeface="Arial" pitchFamily="34" charset="-122"/>
                <a:cs typeface="Arial" pitchFamily="34" charset="-120"/>
              </a:rPr>
              <a:t>Two readers, one book</a:t>
            </a:r>
            <a:endParaRPr lang="en-US" sz="1500" dirty="0"/>
          </a:p>
        </p:txBody>
      </p:sp>
      <p:sp>
        <p:nvSpPr>
          <p:cNvPr id="13" name="Text 11"/>
          <p:cNvSpPr txBox="1"/>
          <p:nvPr/>
        </p:nvSpPr>
        <p:spPr>
          <a:xfrm>
            <a:off x="4983480" y="2286000"/>
            <a:ext cx="2849728" cy="1051560"/>
          </a:xfrm>
          <a:prstGeom prst="rect">
            <a:avLst/>
          </a:prstGeom>
          <a:noFill/>
          <a:ln/>
        </p:spPr>
        <p:txBody>
          <a:bodyPr wrap="square" lIns="0" tIns="0" rIns="0" bIns="0" rtlCol="0" anchor="t"/>
          <a:lstStyle/>
          <a:p>
            <a:pPr indent="0" marL="0">
              <a:buNone/>
            </a:pPr>
            <a:r>
              <a:rPr lang="en-US" sz="1400" dirty="0">
                <a:solidFill>
                  <a:srgbClr val="1F2A2A"/>
                </a:solidFill>
                <a:latin typeface="Arial" pitchFamily="34" charset="0"/>
                <a:ea typeface="Arial" pitchFamily="34" charset="-122"/>
                <a:cs typeface="Arial" pitchFamily="34" charset="-120"/>
              </a:rPr>
              <a:t>The student book and the teacher book carry the same content for two different people. </a:t>
            </a:r>
            <a:pPr indent="0" marL="0">
              <a:buNone/>
            </a:pPr>
            <a:r>
              <a:rPr lang="en-US" sz="1400" i="1" dirty="0">
                <a:solidFill>
                  <a:srgbClr val="B4532A"/>
                </a:solidFill>
                <a:latin typeface="Arial" pitchFamily="34" charset="0"/>
                <a:ea typeface="Arial" pitchFamily="34" charset="-122"/>
                <a:cs typeface="Arial" pitchFamily="34" charset="-120"/>
              </a:rPr>
              <a:t>[What changed between the editions, and why.]</a:t>
            </a:r>
            <a:endParaRPr lang="en-US" sz="1400" dirty="0"/>
          </a:p>
        </p:txBody>
      </p:sp>
      <p:sp>
        <p:nvSpPr>
          <p:cNvPr id="14" name="Card 2"/>
          <p:cNvSpPr/>
          <p:nvPr/>
        </p:nvSpPr>
        <p:spPr>
          <a:xfrm>
            <a:off x="8336128" y="1691640"/>
            <a:ext cx="3306928" cy="1783080"/>
          </a:xfrm>
          <a:prstGeom prst="rect">
            <a:avLst/>
          </a:prstGeom>
          <a:solidFill>
            <a:srgbClr val="F2F4F3"/>
          </a:solidFill>
          <a:ln/>
        </p:spPr>
      </p:sp>
      <p:sp>
        <p:nvSpPr>
          <p:cNvPr id="15" name="Text 13"/>
          <p:cNvSpPr txBox="1"/>
          <p:nvPr/>
        </p:nvSpPr>
        <p:spPr>
          <a:xfrm>
            <a:off x="8564728" y="1892808"/>
            <a:ext cx="2849728" cy="320040"/>
          </a:xfrm>
          <a:prstGeom prst="rect">
            <a:avLst/>
          </a:prstGeom>
          <a:noFill/>
          <a:ln/>
        </p:spPr>
        <p:txBody>
          <a:bodyPr wrap="square" lIns="0" tIns="0" rIns="0" bIns="0" rtlCol="0" anchor="t"/>
          <a:lstStyle/>
          <a:p>
            <a:pPr indent="0" marL="0">
              <a:buNone/>
            </a:pPr>
            <a:r>
              <a:rPr lang="en-US" sz="1500" b="1" dirty="0">
                <a:solidFill>
                  <a:srgbClr val="1F2A2A"/>
                </a:solidFill>
                <a:latin typeface="Arial" pitchFamily="34" charset="0"/>
                <a:ea typeface="Arial" pitchFamily="34" charset="-122"/>
                <a:cs typeface="Arial" pitchFamily="34" charset="-120"/>
              </a:rPr>
              <a:t>Hierarchy</a:t>
            </a:r>
            <a:endParaRPr lang="en-US" sz="1500" dirty="0"/>
          </a:p>
        </p:txBody>
      </p:sp>
      <p:sp>
        <p:nvSpPr>
          <p:cNvPr id="16" name="Text 14"/>
          <p:cNvSpPr txBox="1"/>
          <p:nvPr/>
        </p:nvSpPr>
        <p:spPr>
          <a:xfrm>
            <a:off x="8564728" y="2286000"/>
            <a:ext cx="2849728" cy="1051560"/>
          </a:xfrm>
          <a:prstGeom prst="rect">
            <a:avLst/>
          </a:prstGeom>
          <a:noFill/>
          <a:ln/>
        </p:spPr>
        <p:txBody>
          <a:bodyPr wrap="square" lIns="0" tIns="0" rIns="0" bIns="0" rtlCol="0" anchor="t"/>
          <a:lstStyle/>
          <a:p>
            <a:pPr indent="0" marL="0">
              <a:buNone/>
            </a:pPr>
            <a:r>
              <a:rPr lang="en-US" sz="1400" i="1" dirty="0">
                <a:solidFill>
                  <a:srgbClr val="B4532A"/>
                </a:solidFill>
                <a:latin typeface="Arial" pitchFamily="34" charset="0"/>
                <a:ea typeface="Arial" pitchFamily="34" charset="-122"/>
                <a:cs typeface="Arial" pitchFamily="34" charset="-120"/>
              </a:rPr>
              <a:t>[How headings, instructions and activities were told apart, and why.]</a:t>
            </a:r>
            <a:endParaRPr lang="en-US" sz="1400" dirty="0"/>
          </a:p>
        </p:txBody>
      </p:sp>
      <p:sp>
        <p:nvSpPr>
          <p:cNvPr id="17" name="Card 3"/>
          <p:cNvSpPr/>
          <p:nvPr/>
        </p:nvSpPr>
        <p:spPr>
          <a:xfrm>
            <a:off x="4754880" y="3657600"/>
            <a:ext cx="3306928" cy="1783080"/>
          </a:xfrm>
          <a:prstGeom prst="rect">
            <a:avLst/>
          </a:prstGeom>
          <a:solidFill>
            <a:srgbClr val="F2F4F3"/>
          </a:solidFill>
          <a:ln/>
        </p:spPr>
      </p:sp>
      <p:sp>
        <p:nvSpPr>
          <p:cNvPr id="18" name="Text 16"/>
          <p:cNvSpPr txBox="1"/>
          <p:nvPr/>
        </p:nvSpPr>
        <p:spPr>
          <a:xfrm>
            <a:off x="4983480" y="3858768"/>
            <a:ext cx="2849728" cy="320040"/>
          </a:xfrm>
          <a:prstGeom prst="rect">
            <a:avLst/>
          </a:prstGeom>
          <a:noFill/>
          <a:ln/>
        </p:spPr>
        <p:txBody>
          <a:bodyPr wrap="square" lIns="0" tIns="0" rIns="0" bIns="0" rtlCol="0" anchor="t"/>
          <a:lstStyle/>
          <a:p>
            <a:pPr indent="0" marL="0">
              <a:buNone/>
            </a:pPr>
            <a:r>
              <a:rPr lang="en-US" sz="1500" b="1" dirty="0">
                <a:solidFill>
                  <a:srgbClr val="1F2A2A"/>
                </a:solidFill>
                <a:latin typeface="Arial" pitchFamily="34" charset="0"/>
                <a:ea typeface="Arial" pitchFamily="34" charset="-122"/>
                <a:cs typeface="Arial" pitchFamily="34" charset="-120"/>
              </a:rPr>
              <a:t>Two scripts, one grid</a:t>
            </a:r>
            <a:endParaRPr lang="en-US" sz="1500" dirty="0"/>
          </a:p>
        </p:txBody>
      </p:sp>
      <p:sp>
        <p:nvSpPr>
          <p:cNvPr id="19" name="Text 17"/>
          <p:cNvSpPr txBox="1"/>
          <p:nvPr/>
        </p:nvSpPr>
        <p:spPr>
          <a:xfrm>
            <a:off x="4983480" y="4251960"/>
            <a:ext cx="2849728" cy="1051560"/>
          </a:xfrm>
          <a:prstGeom prst="rect">
            <a:avLst/>
          </a:prstGeom>
          <a:noFill/>
          <a:ln/>
        </p:spPr>
        <p:txBody>
          <a:bodyPr wrap="square" lIns="0" tIns="0" rIns="0" bIns="0" rtlCol="0" anchor="t"/>
          <a:lstStyle/>
          <a:p>
            <a:pPr indent="0" marL="0">
              <a:buNone/>
            </a:pPr>
            <a:r>
              <a:rPr lang="en-US" sz="1400" i="1" dirty="0">
                <a:solidFill>
                  <a:srgbClr val="B4532A"/>
                </a:solidFill>
                <a:latin typeface="Arial" pitchFamily="34" charset="0"/>
                <a:ea typeface="Arial" pitchFamily="34" charset="-122"/>
                <a:cs typeface="Arial" pitchFamily="34" charset="-120"/>
              </a:rPr>
              <a:t>[How Arabic and Latin text shared a page: direction, baseline, what had to give.]</a:t>
            </a:r>
            <a:endParaRPr lang="en-US" sz="1400" dirty="0"/>
          </a:p>
        </p:txBody>
      </p:sp>
      <p:sp>
        <p:nvSpPr>
          <p:cNvPr id="20" name="Card 4"/>
          <p:cNvSpPr/>
          <p:nvPr/>
        </p:nvSpPr>
        <p:spPr>
          <a:xfrm>
            <a:off x="8336128" y="3657600"/>
            <a:ext cx="3306928" cy="1783080"/>
          </a:xfrm>
          <a:prstGeom prst="rect">
            <a:avLst/>
          </a:prstGeom>
          <a:solidFill>
            <a:srgbClr val="F2F4F3"/>
          </a:solidFill>
          <a:ln/>
        </p:spPr>
      </p:sp>
      <p:sp>
        <p:nvSpPr>
          <p:cNvPr id="21" name="Text 19"/>
          <p:cNvSpPr txBox="1"/>
          <p:nvPr/>
        </p:nvSpPr>
        <p:spPr>
          <a:xfrm>
            <a:off x="8564728" y="3858768"/>
            <a:ext cx="2849728" cy="320040"/>
          </a:xfrm>
          <a:prstGeom prst="rect">
            <a:avLst/>
          </a:prstGeom>
          <a:noFill/>
          <a:ln/>
        </p:spPr>
        <p:txBody>
          <a:bodyPr wrap="square" lIns="0" tIns="0" rIns="0" bIns="0" rtlCol="0" anchor="t"/>
          <a:lstStyle/>
          <a:p>
            <a:pPr indent="0" marL="0">
              <a:buNone/>
            </a:pPr>
            <a:r>
              <a:rPr lang="en-US" sz="1500" b="1" dirty="0">
                <a:solidFill>
                  <a:srgbClr val="1F2A2A"/>
                </a:solidFill>
                <a:latin typeface="Arial" pitchFamily="34" charset="0"/>
                <a:ea typeface="Arial" pitchFamily="34" charset="-122"/>
                <a:cs typeface="Arial" pitchFamily="34" charset="-120"/>
              </a:rPr>
              <a:t>Print and screen</a:t>
            </a:r>
            <a:endParaRPr lang="en-US" sz="1500" dirty="0"/>
          </a:p>
        </p:txBody>
      </p:sp>
      <p:sp>
        <p:nvSpPr>
          <p:cNvPr id="22" name="Text 20"/>
          <p:cNvSpPr txBox="1"/>
          <p:nvPr/>
        </p:nvSpPr>
        <p:spPr>
          <a:xfrm>
            <a:off x="8564728" y="4251960"/>
            <a:ext cx="2849728" cy="1051560"/>
          </a:xfrm>
          <a:prstGeom prst="rect">
            <a:avLst/>
          </a:prstGeom>
          <a:noFill/>
          <a:ln/>
        </p:spPr>
        <p:txBody>
          <a:bodyPr wrap="square" lIns="0" tIns="0" rIns="0" bIns="0" rtlCol="0" anchor="t"/>
          <a:lstStyle/>
          <a:p>
            <a:pPr indent="0" marL="0">
              <a:buNone/>
            </a:pPr>
            <a:r>
              <a:rPr lang="en-US" sz="1400" dirty="0">
                <a:solidFill>
                  <a:srgbClr val="1F2A2A"/>
                </a:solidFill>
                <a:latin typeface="Arial" pitchFamily="34" charset="0"/>
                <a:ea typeface="Arial" pitchFamily="34" charset="-122"/>
                <a:cs typeface="Arial" pitchFamily="34" charset="-120"/>
              </a:rPr>
              <a:t>The same system ran in interactive ePub editions with embedded media. </a:t>
            </a:r>
            <a:pPr indent="0" marL="0">
              <a:buNone/>
            </a:pPr>
            <a:r>
              <a:rPr lang="en-US" sz="1400" i="1" dirty="0">
                <a:solidFill>
                  <a:srgbClr val="B4532A"/>
                </a:solidFill>
                <a:latin typeface="Arial" pitchFamily="34" charset="0"/>
                <a:ea typeface="Arial" pitchFamily="34" charset="-122"/>
                <a:cs typeface="Arial" pitchFamily="34" charset="-120"/>
              </a:rPr>
              <a:t>[One change you made for screen.]</a:t>
            </a:r>
            <a:endParaRPr lang="en-US" sz="1400" dirty="0"/>
          </a:p>
        </p:txBody>
      </p:sp>
      <p:sp>
        <p:nvSpPr>
          <p:cNvPr id="23" name="Text 21"/>
          <p:cNvSpPr txBox="1"/>
          <p:nvPr/>
        </p:nvSpPr>
        <p:spPr>
          <a:xfrm>
            <a:off x="4754880" y="5715000"/>
            <a:ext cx="6888175" cy="594360"/>
          </a:xfrm>
          <a:prstGeom prst="rect">
            <a:avLst/>
          </a:prstGeom>
          <a:noFill/>
          <a:ln/>
        </p:spPr>
        <p:txBody>
          <a:bodyPr wrap="square" lIns="0" tIns="0" rIns="0" bIns="0" rtlCol="0" anchor="t"/>
          <a:lstStyle/>
          <a:p>
            <a:pPr indent="0" marL="0">
              <a:buNone/>
            </a:pPr>
            <a:r>
              <a:rPr lang="en-US" sz="1400" dirty="0">
                <a:solidFill>
                  <a:srgbClr val="1F2A2A"/>
                </a:solidFill>
                <a:latin typeface="Arial" pitchFamily="34" charset="0"/>
                <a:ea typeface="Arial" pitchFamily="34" charset="-122"/>
                <a:cs typeface="Arial" pitchFamily="34" charset="-120"/>
              </a:rPr>
              <a:t>What I would do differently now:  </a:t>
            </a:r>
            <a:pPr indent="0" marL="0">
              <a:buNone/>
            </a:pPr>
            <a:r>
              <a:rPr lang="en-US" sz="1400" i="1" dirty="0">
                <a:solidFill>
                  <a:srgbClr val="B4532A"/>
                </a:solidFill>
                <a:latin typeface="Arial" pitchFamily="34" charset="0"/>
                <a:ea typeface="Arial" pitchFamily="34" charset="-122"/>
                <a:cs typeface="Arial" pitchFamily="34" charset="-120"/>
              </a:rPr>
              <a:t>[One honest sentence, for example what you would now test with children and teachers.]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997135" cy="274320"/>
          </a:xfrm>
          <a:prstGeom prst="rect">
            <a:avLst/>
          </a:prstGeom>
          <a:noFill/>
          <a:ln/>
        </p:spPr>
        <p:txBody>
          <a:bodyPr wrap="square" lIns="0" tIns="0" rIns="0" bIns="0" rtlCol="0" anchor="t"/>
          <a:lstStyle/>
          <a:p>
            <a:pPr indent="0" marL="0">
              <a:buNone/>
            </a:pPr>
            <a:r>
              <a:rPr lang="en-US" sz="1100" b="1" spc="100" kern="0" dirty="0">
                <a:solidFill>
                  <a:srgbClr val="6B7472"/>
                </a:solidFill>
                <a:latin typeface="Arial" pitchFamily="34" charset="0"/>
                <a:ea typeface="Arial" pitchFamily="34" charset="-122"/>
                <a:cs typeface="Arial" pitchFamily="34" charset="-120"/>
              </a:rPr>
              <a:t>02   PUBLIC EXPERIENCE   Dubai roads and transport authority, </a:t>
            </a:r>
            <a:pPr indent="0" marL="0">
              <a:buNone/>
            </a:pPr>
            <a:r>
              <a:rPr lang="en-US" sz="1100" b="1" i="1" spc="100" kern="0" dirty="0">
                <a:solidFill>
                  <a:srgbClr val="B4532A"/>
                </a:solidFill>
                <a:latin typeface="Arial" pitchFamily="34" charset="0"/>
                <a:ea typeface="Arial" pitchFamily="34" charset="-122"/>
                <a:cs typeface="Arial" pitchFamily="34" charset="-120"/>
              </a:rPr>
              <a:t>[year]</a:t>
            </a:r>
            <a:endParaRPr lang="en-US" sz="1100" dirty="0"/>
          </a:p>
        </p:txBody>
      </p:sp>
      <p:sp>
        <p:nvSpPr>
          <p:cNvPr id="3" name="Text 1"/>
          <p:cNvSpPr txBox="1"/>
          <p:nvPr/>
        </p:nvSpPr>
        <p:spPr>
          <a:xfrm>
            <a:off x="10728655" y="384048"/>
            <a:ext cx="914400" cy="274320"/>
          </a:xfrm>
          <a:prstGeom prst="rect">
            <a:avLst/>
          </a:prstGeom>
          <a:noFill/>
          <a:ln/>
        </p:spPr>
        <p:txBody>
          <a:bodyPr wrap="square" lIns="0" tIns="0" rIns="0" bIns="0" rtlCol="0" anchor="t"/>
          <a:lstStyle/>
          <a:p>
            <a:pPr algn="r" indent="0" marL="0">
              <a:buNone/>
            </a:pPr>
            <a:r>
              <a:rPr lang="en-US" sz="1100" dirty="0">
                <a:solidFill>
                  <a:srgbClr val="6B7472"/>
                </a:solidFill>
                <a:latin typeface="Arial" pitchFamily="34" charset="0"/>
                <a:ea typeface="Arial" pitchFamily="34" charset="-122"/>
                <a:cs typeface="Arial" pitchFamily="34" charset="-120"/>
              </a:rPr>
              <a:t>3 / 6</a:t>
            </a:r>
            <a:endParaRPr lang="en-US" sz="1100" dirty="0"/>
          </a:p>
        </p:txBody>
      </p:sp>
      <p:sp>
        <p:nvSpPr>
          <p:cNvPr id="4" name="Hero photo"/>
          <p:cNvSpPr/>
          <p:nvPr/>
        </p:nvSpPr>
        <p:spPr>
          <a:xfrm>
            <a:off x="548640" y="822960"/>
            <a:ext cx="7315200" cy="3520440"/>
          </a:xfrm>
          <a:prstGeom prst="rect">
            <a:avLst/>
          </a:prstGeom>
          <a:solidFill>
            <a:srgbClr val="E6E9E8"/>
          </a:solidFill>
          <a:ln/>
        </p:spPr>
      </p:sp>
      <p:sp>
        <p:nvSpPr>
          <p:cNvPr id="5" name="Image label (delete after adding photo)"/>
          <p:cNvSpPr txBox="1"/>
          <p:nvPr/>
        </p:nvSpPr>
        <p:spPr>
          <a:xfrm>
            <a:off x="685800" y="932688"/>
            <a:ext cx="704088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HERO  Wide photo of people inside the space, using it. Not the empty set-up.</a:t>
            </a:r>
            <a:endParaRPr lang="en-US" sz="1000" dirty="0"/>
          </a:p>
        </p:txBody>
      </p:sp>
      <p:sp>
        <p:nvSpPr>
          <p:cNvPr id="6" name="Installation photo"/>
          <p:cNvSpPr/>
          <p:nvPr/>
        </p:nvSpPr>
        <p:spPr>
          <a:xfrm>
            <a:off x="8046720" y="822960"/>
            <a:ext cx="3596335" cy="3520440"/>
          </a:xfrm>
          <a:prstGeom prst="rect">
            <a:avLst/>
          </a:prstGeom>
          <a:solidFill>
            <a:srgbClr val="E6E9E8"/>
          </a:solidFill>
          <a:ln/>
        </p:spPr>
      </p:sp>
      <p:sp>
        <p:nvSpPr>
          <p:cNvPr id="7" name="Image label (delete after adding photo)"/>
          <p:cNvSpPr txBox="1"/>
          <p:nvPr/>
        </p:nvSpPr>
        <p:spPr>
          <a:xfrm>
            <a:off x="8183880" y="932688"/>
            <a:ext cx="3322015"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Participatory installation, with people at it</a:t>
            </a:r>
            <a:endParaRPr lang="en-US" sz="1000" dirty="0"/>
          </a:p>
        </p:txBody>
      </p:sp>
      <p:sp>
        <p:nvSpPr>
          <p:cNvPr id="8" name="Text 6"/>
          <p:cNvSpPr txBox="1"/>
          <p:nvPr/>
        </p:nvSpPr>
        <p:spPr>
          <a:xfrm>
            <a:off x="548640" y="4526280"/>
            <a:ext cx="5486400" cy="1188720"/>
          </a:xfrm>
          <a:prstGeom prst="rect">
            <a:avLst/>
          </a:prstGeom>
          <a:noFill/>
          <a:ln/>
        </p:spPr>
        <p:txBody>
          <a:bodyPr wrap="square" lIns="0" tIns="0" rIns="0" bIns="0" rtlCol="0" anchor="t"/>
          <a:lstStyle/>
          <a:p>
            <a:pPr indent="0" marL="0">
              <a:buNone/>
            </a:pPr>
            <a:r>
              <a:rPr lang="en-US" sz="3400" b="1" dirty="0">
                <a:solidFill>
                  <a:srgbClr val="1F2A2A"/>
                </a:solidFill>
                <a:latin typeface="Cambria" pitchFamily="34" charset="0"/>
                <a:ea typeface="Cambria" pitchFamily="34" charset="-122"/>
                <a:cs typeface="Cambria" pitchFamily="34" charset="-120"/>
              </a:rPr>
              <a:t>A government building, opened up</a:t>
            </a:r>
            <a:endParaRPr lang="en-US" sz="3400" dirty="0"/>
          </a:p>
        </p:txBody>
      </p:sp>
      <p:sp>
        <p:nvSpPr>
          <p:cNvPr id="9" name="Text 7"/>
          <p:cNvSpPr txBox="1"/>
          <p:nvPr/>
        </p:nvSpPr>
        <p:spPr>
          <a:xfrm>
            <a:off x="6263640" y="4526280"/>
            <a:ext cx="5376672" cy="1828800"/>
          </a:xfrm>
          <a:prstGeom prst="rect">
            <a:avLst/>
          </a:prstGeom>
          <a:noFill/>
          <a:ln/>
        </p:spPr>
        <p:txBody>
          <a:bodyPr wrap="square" lIns="0" tIns="0" rIns="0" bIns="0" rtlCol="0" anchor="t"/>
          <a:lstStyle/>
          <a:p>
            <a:pPr indent="0" marL="0">
              <a:spcAft>
                <a:spcPts val="800"/>
              </a:spcAft>
              <a:buNone/>
            </a:pPr>
            <a:r>
              <a:rPr lang="en-US" sz="1400" dirty="0">
                <a:solidFill>
                  <a:srgbClr val="1F2A2A"/>
                </a:solidFill>
                <a:latin typeface="Arial" pitchFamily="34" charset="0"/>
                <a:ea typeface="Arial" pitchFamily="34" charset="-122"/>
                <a:cs typeface="Arial" pitchFamily="34" charset="-120"/>
              </a:rPr>
              <a:t>The authority wanted </a:t>
            </a:r>
            <a:pPr indent="0" marL="0">
              <a:spcAft>
                <a:spcPts val="800"/>
              </a:spcAft>
              <a:buNone/>
            </a:pPr>
            <a:r>
              <a:rPr lang="en-US" sz="1400" i="1" dirty="0">
                <a:solidFill>
                  <a:srgbClr val="B4532A"/>
                </a:solidFill>
                <a:latin typeface="Arial" pitchFamily="34" charset="0"/>
                <a:ea typeface="Arial" pitchFamily="34" charset="-122"/>
                <a:cs typeface="Arial" pitchFamily="34" charset="-120"/>
              </a:rPr>
              <a:t>[the purpose of the event]</a:t>
            </a:r>
            <a:pPr indent="0" marL="0">
              <a:spcAft>
                <a:spcPts val="800"/>
              </a:spcAft>
              <a:buNone/>
            </a:pPr>
            <a:r>
              <a:rPr lang="en-US" sz="1400" dirty="0">
                <a:solidFill>
                  <a:srgbClr val="1F2A2A"/>
                </a:solidFill>
                <a:latin typeface="Arial" pitchFamily="34" charset="0"/>
                <a:ea typeface="Arial" pitchFamily="34" charset="-122"/>
                <a:cs typeface="Arial" pitchFamily="34" charset="-120"/>
              </a:rPr>
              <a:t>. It ran for two days inside their own building, with a registration platform for more than 250 vacancies.</a:t>
            </a:r>
            <a:endParaRPr lang="en-US" sz="1400" dirty="0"/>
          </a:p>
          <a:p>
            <a:pPr indent="0" marL="0">
              <a:spcAft>
                <a:spcPts val="800"/>
              </a:spcAft>
              <a:buNone/>
            </a:pPr>
            <a:r>
              <a:rPr lang="en-US" sz="1400" dirty="0">
                <a:solidFill>
                  <a:srgbClr val="1F2A2A"/>
                </a:solidFill>
                <a:latin typeface="Arial" pitchFamily="34" charset="0"/>
                <a:ea typeface="Arial" pitchFamily="34" charset="-122"/>
                <a:cs typeface="Arial" pitchFamily="34" charset="-120"/>
              </a:rPr>
              <a:t>Government buildings tell visitors where they stand before anyone speaks. </a:t>
            </a:r>
            <a:pPr indent="0" marL="0">
              <a:spcAft>
                <a:spcPts val="800"/>
              </a:spcAft>
              <a:buNone/>
            </a:pPr>
            <a:r>
              <a:rPr lang="en-US" sz="1400" i="1" dirty="0">
                <a:solidFill>
                  <a:srgbClr val="B4532A"/>
                </a:solidFill>
                <a:latin typeface="Arial" pitchFamily="34" charset="0"/>
                <a:ea typeface="Arial" pitchFamily="34" charset="-122"/>
                <a:cs typeface="Arial" pitchFamily="34" charset="-120"/>
              </a:rPr>
              <a:t>[Who the visitors were.]</a:t>
            </a:r>
            <a:pPr indent="0" marL="0">
              <a:spcAft>
                <a:spcPts val="800"/>
              </a:spcAft>
              <a:buNone/>
            </a:pPr>
            <a:r>
              <a:rPr lang="en-US" sz="1400" dirty="0">
                <a:solidFill>
                  <a:srgbClr val="1F2A2A"/>
                </a:solidFill>
                <a:latin typeface="Arial" pitchFamily="34" charset="0"/>
                <a:ea typeface="Arial" pitchFamily="34" charset="-122"/>
                <a:cs typeface="Arial" pitchFamily="34" charset="-120"/>
              </a:rPr>
              <a:t> I read the brief as a question about how people feel in that building, and what would make them take part.</a:t>
            </a:r>
            <a:endParaRPr lang="en-US" sz="1400" dirty="0"/>
          </a:p>
        </p:txBody>
      </p:sp>
      <p:sp>
        <p:nvSpPr>
          <p:cNvPr id="10" name="Text 8"/>
          <p:cNvSpPr txBox="1"/>
          <p:nvPr/>
        </p:nvSpPr>
        <p:spPr>
          <a:xfrm>
            <a:off x="548640" y="5760720"/>
            <a:ext cx="5486400" cy="640080"/>
          </a:xfrm>
          <a:prstGeom prst="rect">
            <a:avLst/>
          </a:prstGeom>
          <a:noFill/>
          <a:ln/>
        </p:spPr>
        <p:txBody>
          <a:bodyPr wrap="square" lIns="0" tIns="0" rIns="0" bIns="0" rtlCol="0" anchor="t"/>
          <a:lstStyle/>
          <a:p>
            <a:pPr indent="0" marL="0">
              <a:buNone/>
            </a:pPr>
            <a:r>
              <a:rPr lang="en-US" sz="1200" dirty="0">
                <a:solidFill>
                  <a:srgbClr val="1F2A2A"/>
                </a:solidFill>
                <a:latin typeface="Arial" pitchFamily="34" charset="0"/>
                <a:ea typeface="Arial" pitchFamily="34" charset="-122"/>
                <a:cs typeface="Arial" pitchFamily="34" charset="-120"/>
              </a:rPr>
              <a:t>My role: creative lead, at the studio I co-founded. I conceived all six interactive activations and led the creative direction of the whole experience, from concept and visual identity to on-site execution.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997135" cy="274320"/>
          </a:xfrm>
          <a:prstGeom prst="rect">
            <a:avLst/>
          </a:prstGeom>
          <a:noFill/>
          <a:ln/>
        </p:spPr>
        <p:txBody>
          <a:bodyPr wrap="square" lIns="0" tIns="0" rIns="0" bIns="0" rtlCol="0" anchor="t"/>
          <a:lstStyle/>
          <a:p>
            <a:pPr indent="0" marL="0">
              <a:buNone/>
            </a:pPr>
            <a:r>
              <a:rPr lang="en-US" sz="1100" b="1" spc="100" kern="0" dirty="0">
                <a:solidFill>
                  <a:srgbClr val="6B7472"/>
                </a:solidFill>
                <a:latin typeface="Arial" pitchFamily="34" charset="0"/>
                <a:ea typeface="Arial" pitchFamily="34" charset="-122"/>
                <a:cs typeface="Arial" pitchFamily="34" charset="-120"/>
              </a:rPr>
              <a:t>02   PUBLIC EXPERIENCE   How it worked</a:t>
            </a:r>
            <a:endParaRPr lang="en-US" sz="1100" dirty="0"/>
          </a:p>
        </p:txBody>
      </p:sp>
      <p:sp>
        <p:nvSpPr>
          <p:cNvPr id="3" name="Text 1"/>
          <p:cNvSpPr txBox="1"/>
          <p:nvPr/>
        </p:nvSpPr>
        <p:spPr>
          <a:xfrm>
            <a:off x="10728655" y="384048"/>
            <a:ext cx="914400" cy="274320"/>
          </a:xfrm>
          <a:prstGeom prst="rect">
            <a:avLst/>
          </a:prstGeom>
          <a:noFill/>
          <a:ln/>
        </p:spPr>
        <p:txBody>
          <a:bodyPr wrap="square" lIns="0" tIns="0" rIns="0" bIns="0" rtlCol="0" anchor="t"/>
          <a:lstStyle/>
          <a:p>
            <a:pPr algn="r" indent="0" marL="0">
              <a:buNone/>
            </a:pPr>
            <a:r>
              <a:rPr lang="en-US" sz="1100" dirty="0">
                <a:solidFill>
                  <a:srgbClr val="6B7472"/>
                </a:solidFill>
                <a:latin typeface="Arial" pitchFamily="34" charset="0"/>
                <a:ea typeface="Arial" pitchFamily="34" charset="-122"/>
                <a:cs typeface="Arial" pitchFamily="34" charset="-120"/>
              </a:rPr>
              <a:t>4 / 6</a:t>
            </a:r>
            <a:endParaRPr lang="en-US" sz="1100" dirty="0"/>
          </a:p>
        </p:txBody>
      </p:sp>
      <p:sp>
        <p:nvSpPr>
          <p:cNvPr id="4" name="Text 2"/>
          <p:cNvSpPr txBox="1"/>
          <p:nvPr/>
        </p:nvSpPr>
        <p:spPr>
          <a:xfrm>
            <a:off x="548640" y="777240"/>
            <a:ext cx="5486400" cy="685800"/>
          </a:xfrm>
          <a:prstGeom prst="rect">
            <a:avLst/>
          </a:prstGeom>
          <a:noFill/>
          <a:ln/>
        </p:spPr>
        <p:txBody>
          <a:bodyPr wrap="square" lIns="0" tIns="0" rIns="0" bIns="0" rtlCol="0" anchor="t"/>
          <a:lstStyle/>
          <a:p>
            <a:pPr indent="0" marL="0">
              <a:buNone/>
            </a:pPr>
            <a:r>
              <a:rPr lang="en-US" sz="3400" b="1" dirty="0">
                <a:solidFill>
                  <a:srgbClr val="1F2A2A"/>
                </a:solidFill>
                <a:latin typeface="Cambria" pitchFamily="34" charset="0"/>
                <a:ea typeface="Cambria" pitchFamily="34" charset="-122"/>
                <a:cs typeface="Cambria" pitchFamily="34" charset="-120"/>
              </a:rPr>
              <a:t>Door to registration</a:t>
            </a:r>
            <a:endParaRPr lang="en-US" sz="3400" dirty="0"/>
          </a:p>
        </p:txBody>
      </p:sp>
      <p:sp>
        <p:nvSpPr>
          <p:cNvPr id="5" name="Text 3"/>
          <p:cNvSpPr txBox="1"/>
          <p:nvPr/>
        </p:nvSpPr>
        <p:spPr>
          <a:xfrm>
            <a:off x="548640" y="1600200"/>
            <a:ext cx="6035040" cy="1737360"/>
          </a:xfrm>
          <a:prstGeom prst="rect">
            <a:avLst/>
          </a:prstGeom>
          <a:noFill/>
          <a:ln/>
        </p:spPr>
        <p:txBody>
          <a:bodyPr wrap="square" lIns="0" tIns="0" rIns="0" bIns="0" rtlCol="0" anchor="t"/>
          <a:lstStyle/>
          <a:p>
            <a:pPr indent="0" marL="0">
              <a:spcAft>
                <a:spcPts val="800"/>
              </a:spcAft>
              <a:buNone/>
            </a:pPr>
            <a:r>
              <a:rPr lang="en-US" sz="1400" dirty="0">
                <a:solidFill>
                  <a:srgbClr val="1F2A2A"/>
                </a:solidFill>
                <a:latin typeface="Arial" pitchFamily="34" charset="0"/>
                <a:ea typeface="Arial" pitchFamily="34" charset="-122"/>
                <a:cs typeface="Arial" pitchFamily="34" charset="-120"/>
              </a:rPr>
              <a:t>Six bilingual activations, touchscreen kiosks, a secure registration platform, environmental graphics, and a participatory installation where visitors </a:t>
            </a:r>
            <a:pPr indent="0" marL="0">
              <a:spcAft>
                <a:spcPts val="800"/>
              </a:spcAft>
              <a:buNone/>
            </a:pPr>
            <a:r>
              <a:rPr lang="en-US" sz="1400" i="1" dirty="0">
                <a:solidFill>
                  <a:srgbClr val="B4532A"/>
                </a:solidFill>
                <a:latin typeface="Arial" pitchFamily="34" charset="0"/>
                <a:ea typeface="Arial" pitchFamily="34" charset="-122"/>
                <a:cs typeface="Arial" pitchFamily="34" charset="-120"/>
              </a:rPr>
              <a:t>[what visitors did]</a:t>
            </a:r>
            <a:pPr indent="0" marL="0">
              <a:spcAft>
                <a:spcPts val="800"/>
              </a:spcAft>
              <a:buNone/>
            </a:pPr>
            <a:r>
              <a:rPr lang="en-US" sz="1400" dirty="0">
                <a:solidFill>
                  <a:srgbClr val="1F2A2A"/>
                </a:solidFill>
                <a:latin typeface="Arial" pitchFamily="34" charset="0"/>
                <a:ea typeface="Arial" pitchFamily="34" charset="-122"/>
                <a:cs typeface="Arial" pitchFamily="34" charset="-120"/>
              </a:rPr>
              <a:t>.</a:t>
            </a:r>
            <a:endParaRPr lang="en-US" sz="1400" dirty="0"/>
          </a:p>
          <a:p>
            <a:pPr indent="0" marL="0">
              <a:spcAft>
                <a:spcPts val="800"/>
              </a:spcAft>
              <a:buNone/>
            </a:pPr>
            <a:r>
              <a:rPr lang="en-US" sz="1400" dirty="0">
                <a:solidFill>
                  <a:srgbClr val="1F2A2A"/>
                </a:solidFill>
                <a:latin typeface="Arial" pitchFamily="34" charset="0"/>
                <a:ea typeface="Arial" pitchFamily="34" charset="-122"/>
                <a:cs typeface="Arial" pitchFamily="34" charset="-120"/>
              </a:rPr>
              <a:t>Everything was in Arabic and English. </a:t>
            </a:r>
            <a:pPr indent="0" marL="0">
              <a:spcAft>
                <a:spcPts val="800"/>
              </a:spcAft>
              <a:buNone/>
            </a:pPr>
            <a:r>
              <a:rPr lang="en-US" sz="1400" i="1" dirty="0">
                <a:solidFill>
                  <a:srgbClr val="B4532A"/>
                </a:solidFill>
                <a:latin typeface="Arial" pitchFamily="34" charset="0"/>
                <a:ea typeface="Arial" pitchFamily="34" charset="-122"/>
                <a:cs typeface="Arial" pitchFamily="34" charset="-120"/>
              </a:rPr>
              <a:t>[One decision about bilingual signage and screens, and why.]</a:t>
            </a:r>
            <a:pPr indent="0" marL="0">
              <a:spcAft>
                <a:spcPts val="800"/>
              </a:spcAft>
              <a:buNone/>
            </a:pPr>
            <a:r>
              <a:rPr lang="en-US" sz="1400" dirty="0">
                <a:solidFill>
                  <a:srgbClr val="1F2A2A"/>
                </a:solidFill>
                <a:latin typeface="Arial" pitchFamily="34" charset="0"/>
                <a:ea typeface="Arial" pitchFamily="34" charset="-122"/>
                <a:cs typeface="Arial" pitchFamily="34" charset="-120"/>
              </a:rPr>
              <a:t> The kiosks had to be </a:t>
            </a:r>
            <a:pPr indent="0" marL="0">
              <a:spcAft>
                <a:spcPts val="800"/>
              </a:spcAft>
              <a:buNone/>
            </a:pPr>
            <a:r>
              <a:rPr lang="en-US" sz="1400" i="1" dirty="0">
                <a:solidFill>
                  <a:srgbClr val="B4532A"/>
                </a:solidFill>
                <a:latin typeface="Arial" pitchFamily="34" charset="0"/>
                <a:ea typeface="Arial" pitchFamily="34" charset="-122"/>
                <a:cs typeface="Arial" pitchFamily="34" charset="-120"/>
              </a:rPr>
              <a:t>[one constraint, for example usable by someone who had never used one]</a:t>
            </a:r>
            <a:pPr indent="0" marL="0">
              <a:spcAft>
                <a:spcPts val="800"/>
              </a:spcAft>
              <a:buNone/>
            </a:pPr>
            <a:r>
              <a:rPr lang="en-US" sz="1400" dirty="0">
                <a:solidFill>
                  <a:srgbClr val="1F2A2A"/>
                </a:solidFill>
                <a:latin typeface="Arial" pitchFamily="34" charset="0"/>
                <a:ea typeface="Arial" pitchFamily="34" charset="-122"/>
                <a:cs typeface="Arial" pitchFamily="34" charset="-120"/>
              </a:rPr>
              <a:t>.</a:t>
            </a:r>
            <a:endParaRPr lang="en-US" sz="1400" dirty="0"/>
          </a:p>
        </p:txBody>
      </p:sp>
      <p:sp>
        <p:nvSpPr>
          <p:cNvPr id="6" name="Concept sketch"/>
          <p:cNvSpPr/>
          <p:nvPr/>
        </p:nvSpPr>
        <p:spPr>
          <a:xfrm>
            <a:off x="7068312" y="777240"/>
            <a:ext cx="4572000" cy="2560320"/>
          </a:xfrm>
          <a:prstGeom prst="rect">
            <a:avLst/>
          </a:prstGeom>
          <a:solidFill>
            <a:srgbClr val="E6E9E8"/>
          </a:solidFill>
          <a:ln/>
        </p:spPr>
      </p:sp>
      <p:sp>
        <p:nvSpPr>
          <p:cNvPr id="7" name="Image label (delete after adding photo)"/>
          <p:cNvSpPr txBox="1"/>
          <p:nvPr/>
        </p:nvSpPr>
        <p:spPr>
          <a:xfrm>
            <a:off x="7205472" y="886968"/>
            <a:ext cx="429768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Concept sketch or early board</a:t>
            </a:r>
            <a:endParaRPr lang="en-US" sz="1000" dirty="0"/>
          </a:p>
        </p:txBody>
      </p:sp>
      <p:sp>
        <p:nvSpPr>
          <p:cNvPr id="8" name="Step photo 1"/>
          <p:cNvSpPr/>
          <p:nvPr/>
        </p:nvSpPr>
        <p:spPr>
          <a:xfrm>
            <a:off x="548640" y="3611880"/>
            <a:ext cx="2072579" cy="1417320"/>
          </a:xfrm>
          <a:prstGeom prst="rect">
            <a:avLst/>
          </a:prstGeom>
          <a:solidFill>
            <a:srgbClr val="E6E9E8"/>
          </a:solidFill>
          <a:ln/>
        </p:spPr>
      </p:sp>
      <p:sp>
        <p:nvSpPr>
          <p:cNvPr id="9" name="Image label (delete after adding photo)"/>
          <p:cNvSpPr txBox="1"/>
          <p:nvPr/>
        </p:nvSpPr>
        <p:spPr>
          <a:xfrm>
            <a:off x="685800" y="3721608"/>
            <a:ext cx="17982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Photo for this step</a:t>
            </a:r>
            <a:endParaRPr lang="en-US" sz="1000" dirty="0"/>
          </a:p>
        </p:txBody>
      </p:sp>
      <p:sp>
        <p:nvSpPr>
          <p:cNvPr id="10" name="Text 8"/>
          <p:cNvSpPr txBox="1"/>
          <p:nvPr/>
        </p:nvSpPr>
        <p:spPr>
          <a:xfrm>
            <a:off x="548640" y="5138928"/>
            <a:ext cx="2072579" cy="292608"/>
          </a:xfrm>
          <a:prstGeom prst="rect">
            <a:avLst/>
          </a:prstGeom>
          <a:noFill/>
          <a:ln/>
        </p:spPr>
        <p:txBody>
          <a:bodyPr wrap="square" lIns="0" tIns="0" rIns="0" bIns="0" rtlCol="0" anchor="t"/>
          <a:lstStyle/>
          <a:p>
            <a:pPr indent="0" marL="0">
              <a:buNone/>
            </a:pPr>
            <a:r>
              <a:rPr lang="en-US" sz="1300" b="1" dirty="0">
                <a:solidFill>
                  <a:srgbClr val="B4532A"/>
                </a:solidFill>
                <a:latin typeface="Arial" pitchFamily="34" charset="0"/>
                <a:ea typeface="Arial" pitchFamily="34" charset="-122"/>
                <a:cs typeface="Arial" pitchFamily="34" charset="-120"/>
              </a:rPr>
              <a:t>01  </a:t>
            </a:r>
            <a:pPr indent="0" marL="0">
              <a:buNone/>
            </a:pPr>
            <a:r>
              <a:rPr lang="en-US" sz="1300" b="1" i="1" dirty="0">
                <a:solidFill>
                  <a:srgbClr val="B4532A"/>
                </a:solidFill>
                <a:latin typeface="Arial" pitchFamily="34" charset="0"/>
                <a:ea typeface="Arial" pitchFamily="34" charset="-122"/>
                <a:cs typeface="Arial" pitchFamily="34" charset="-120"/>
              </a:rPr>
              <a:t>[Arrival]</a:t>
            </a:r>
            <a:endParaRPr lang="en-US" sz="1300" dirty="0"/>
          </a:p>
        </p:txBody>
      </p:sp>
      <p:sp>
        <p:nvSpPr>
          <p:cNvPr id="11" name="Step photo 2"/>
          <p:cNvSpPr/>
          <p:nvPr/>
        </p:nvSpPr>
        <p:spPr>
          <a:xfrm>
            <a:off x="2804099" y="3611880"/>
            <a:ext cx="2072579" cy="1417320"/>
          </a:xfrm>
          <a:prstGeom prst="rect">
            <a:avLst/>
          </a:prstGeom>
          <a:solidFill>
            <a:srgbClr val="E6E9E8"/>
          </a:solidFill>
          <a:ln/>
        </p:spPr>
      </p:sp>
      <p:sp>
        <p:nvSpPr>
          <p:cNvPr id="12" name="Image label (delete after adding photo)"/>
          <p:cNvSpPr txBox="1"/>
          <p:nvPr/>
        </p:nvSpPr>
        <p:spPr>
          <a:xfrm>
            <a:off x="2941259" y="3721608"/>
            <a:ext cx="17982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Photo for this step</a:t>
            </a:r>
            <a:endParaRPr lang="en-US" sz="1000" dirty="0"/>
          </a:p>
        </p:txBody>
      </p:sp>
      <p:sp>
        <p:nvSpPr>
          <p:cNvPr id="13" name="Text 11"/>
          <p:cNvSpPr txBox="1"/>
          <p:nvPr/>
        </p:nvSpPr>
        <p:spPr>
          <a:xfrm>
            <a:off x="2804099" y="5138928"/>
            <a:ext cx="2072579" cy="292608"/>
          </a:xfrm>
          <a:prstGeom prst="rect">
            <a:avLst/>
          </a:prstGeom>
          <a:noFill/>
          <a:ln/>
        </p:spPr>
        <p:txBody>
          <a:bodyPr wrap="square" lIns="0" tIns="0" rIns="0" bIns="0" rtlCol="0" anchor="t"/>
          <a:lstStyle/>
          <a:p>
            <a:pPr indent="0" marL="0">
              <a:buNone/>
            </a:pPr>
            <a:r>
              <a:rPr lang="en-US" sz="1300" b="1" dirty="0">
                <a:solidFill>
                  <a:srgbClr val="B4532A"/>
                </a:solidFill>
                <a:latin typeface="Arial" pitchFamily="34" charset="0"/>
                <a:ea typeface="Arial" pitchFamily="34" charset="-122"/>
                <a:cs typeface="Arial" pitchFamily="34" charset="-120"/>
              </a:rPr>
              <a:t>02  </a:t>
            </a:r>
            <a:pPr indent="0" marL="0">
              <a:buNone/>
            </a:pPr>
            <a:r>
              <a:rPr lang="en-US" sz="1300" b="1" i="1" dirty="0">
                <a:solidFill>
                  <a:srgbClr val="B4532A"/>
                </a:solidFill>
                <a:latin typeface="Arial" pitchFamily="34" charset="0"/>
                <a:ea typeface="Arial" pitchFamily="34" charset="-122"/>
                <a:cs typeface="Arial" pitchFamily="34" charset="-120"/>
              </a:rPr>
              <a:t>[Orientation]</a:t>
            </a:r>
            <a:endParaRPr lang="en-US" sz="1300" dirty="0"/>
          </a:p>
        </p:txBody>
      </p:sp>
      <p:sp>
        <p:nvSpPr>
          <p:cNvPr id="14" name="Step photo 3"/>
          <p:cNvSpPr/>
          <p:nvPr/>
        </p:nvSpPr>
        <p:spPr>
          <a:xfrm>
            <a:off x="5059558" y="3611880"/>
            <a:ext cx="2072579" cy="1417320"/>
          </a:xfrm>
          <a:prstGeom prst="rect">
            <a:avLst/>
          </a:prstGeom>
          <a:solidFill>
            <a:srgbClr val="E6E9E8"/>
          </a:solidFill>
          <a:ln/>
        </p:spPr>
      </p:sp>
      <p:sp>
        <p:nvSpPr>
          <p:cNvPr id="15" name="Image label (delete after adding photo)"/>
          <p:cNvSpPr txBox="1"/>
          <p:nvPr/>
        </p:nvSpPr>
        <p:spPr>
          <a:xfrm>
            <a:off x="5196718" y="3721608"/>
            <a:ext cx="17982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Photo for this step</a:t>
            </a:r>
            <a:endParaRPr lang="en-US" sz="1000" dirty="0"/>
          </a:p>
        </p:txBody>
      </p:sp>
      <p:sp>
        <p:nvSpPr>
          <p:cNvPr id="16" name="Text 14"/>
          <p:cNvSpPr txBox="1"/>
          <p:nvPr/>
        </p:nvSpPr>
        <p:spPr>
          <a:xfrm>
            <a:off x="5059558" y="5138928"/>
            <a:ext cx="2072579" cy="292608"/>
          </a:xfrm>
          <a:prstGeom prst="rect">
            <a:avLst/>
          </a:prstGeom>
          <a:noFill/>
          <a:ln/>
        </p:spPr>
        <p:txBody>
          <a:bodyPr wrap="square" lIns="0" tIns="0" rIns="0" bIns="0" rtlCol="0" anchor="t"/>
          <a:lstStyle/>
          <a:p>
            <a:pPr indent="0" marL="0">
              <a:buNone/>
            </a:pPr>
            <a:r>
              <a:rPr lang="en-US" sz="1300" b="1" dirty="0">
                <a:solidFill>
                  <a:srgbClr val="B4532A"/>
                </a:solidFill>
                <a:latin typeface="Arial" pitchFamily="34" charset="0"/>
                <a:ea typeface="Arial" pitchFamily="34" charset="-122"/>
                <a:cs typeface="Arial" pitchFamily="34" charset="-120"/>
              </a:rPr>
              <a:t>03  </a:t>
            </a:r>
            <a:pPr indent="0" marL="0">
              <a:buNone/>
            </a:pPr>
            <a:r>
              <a:rPr lang="en-US" sz="1300" b="1" i="1" dirty="0">
                <a:solidFill>
                  <a:srgbClr val="B4532A"/>
                </a:solidFill>
                <a:latin typeface="Arial" pitchFamily="34" charset="0"/>
                <a:ea typeface="Arial" pitchFamily="34" charset="-122"/>
                <a:cs typeface="Arial" pitchFamily="34" charset="-120"/>
              </a:rPr>
              <a:t>[Activations]</a:t>
            </a:r>
            <a:endParaRPr lang="en-US" sz="1300" dirty="0"/>
          </a:p>
        </p:txBody>
      </p:sp>
      <p:sp>
        <p:nvSpPr>
          <p:cNvPr id="17" name="Step photo 4"/>
          <p:cNvSpPr/>
          <p:nvPr/>
        </p:nvSpPr>
        <p:spPr>
          <a:xfrm>
            <a:off x="7315017" y="3611880"/>
            <a:ext cx="2072579" cy="1417320"/>
          </a:xfrm>
          <a:prstGeom prst="rect">
            <a:avLst/>
          </a:prstGeom>
          <a:solidFill>
            <a:srgbClr val="E6E9E8"/>
          </a:solidFill>
          <a:ln/>
        </p:spPr>
      </p:sp>
      <p:sp>
        <p:nvSpPr>
          <p:cNvPr id="18" name="Image label (delete after adding photo)"/>
          <p:cNvSpPr txBox="1"/>
          <p:nvPr/>
        </p:nvSpPr>
        <p:spPr>
          <a:xfrm>
            <a:off x="7452177" y="3721608"/>
            <a:ext cx="17982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Photo for this step</a:t>
            </a:r>
            <a:endParaRPr lang="en-US" sz="1000" dirty="0"/>
          </a:p>
        </p:txBody>
      </p:sp>
      <p:sp>
        <p:nvSpPr>
          <p:cNvPr id="19" name="Text 17"/>
          <p:cNvSpPr txBox="1"/>
          <p:nvPr/>
        </p:nvSpPr>
        <p:spPr>
          <a:xfrm>
            <a:off x="7315017" y="5138928"/>
            <a:ext cx="2072579" cy="292608"/>
          </a:xfrm>
          <a:prstGeom prst="rect">
            <a:avLst/>
          </a:prstGeom>
          <a:noFill/>
          <a:ln/>
        </p:spPr>
        <p:txBody>
          <a:bodyPr wrap="square" lIns="0" tIns="0" rIns="0" bIns="0" rtlCol="0" anchor="t"/>
          <a:lstStyle/>
          <a:p>
            <a:pPr indent="0" marL="0">
              <a:buNone/>
            </a:pPr>
            <a:r>
              <a:rPr lang="en-US" sz="1300" b="1" dirty="0">
                <a:solidFill>
                  <a:srgbClr val="B4532A"/>
                </a:solidFill>
                <a:latin typeface="Arial" pitchFamily="34" charset="0"/>
                <a:ea typeface="Arial" pitchFamily="34" charset="-122"/>
                <a:cs typeface="Arial" pitchFamily="34" charset="-120"/>
              </a:rPr>
              <a:t>04  </a:t>
            </a:r>
            <a:pPr indent="0" marL="0">
              <a:buNone/>
            </a:pPr>
            <a:r>
              <a:rPr lang="en-US" sz="1300" b="1" i="1" dirty="0">
                <a:solidFill>
                  <a:srgbClr val="B4532A"/>
                </a:solidFill>
                <a:latin typeface="Arial" pitchFamily="34" charset="0"/>
                <a:ea typeface="Arial" pitchFamily="34" charset="-122"/>
                <a:cs typeface="Arial" pitchFamily="34" charset="-120"/>
              </a:rPr>
              <a:t>[Installation]</a:t>
            </a:r>
            <a:endParaRPr lang="en-US" sz="1300" dirty="0"/>
          </a:p>
        </p:txBody>
      </p:sp>
      <p:sp>
        <p:nvSpPr>
          <p:cNvPr id="20" name="Step photo 5"/>
          <p:cNvSpPr/>
          <p:nvPr/>
        </p:nvSpPr>
        <p:spPr>
          <a:xfrm>
            <a:off x="9570476" y="3611880"/>
            <a:ext cx="2072579" cy="1417320"/>
          </a:xfrm>
          <a:prstGeom prst="rect">
            <a:avLst/>
          </a:prstGeom>
          <a:solidFill>
            <a:srgbClr val="E6E9E8"/>
          </a:solidFill>
          <a:ln/>
        </p:spPr>
      </p:sp>
      <p:sp>
        <p:nvSpPr>
          <p:cNvPr id="21" name="Image label (delete after adding photo)"/>
          <p:cNvSpPr txBox="1"/>
          <p:nvPr/>
        </p:nvSpPr>
        <p:spPr>
          <a:xfrm>
            <a:off x="9707636" y="3721608"/>
            <a:ext cx="1798259"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Photo for this step</a:t>
            </a:r>
            <a:endParaRPr lang="en-US" sz="1000" dirty="0"/>
          </a:p>
        </p:txBody>
      </p:sp>
      <p:sp>
        <p:nvSpPr>
          <p:cNvPr id="22" name="Text 20"/>
          <p:cNvSpPr txBox="1"/>
          <p:nvPr/>
        </p:nvSpPr>
        <p:spPr>
          <a:xfrm>
            <a:off x="9570476" y="5138928"/>
            <a:ext cx="2072579" cy="292608"/>
          </a:xfrm>
          <a:prstGeom prst="rect">
            <a:avLst/>
          </a:prstGeom>
          <a:noFill/>
          <a:ln/>
        </p:spPr>
        <p:txBody>
          <a:bodyPr wrap="square" lIns="0" tIns="0" rIns="0" bIns="0" rtlCol="0" anchor="t"/>
          <a:lstStyle/>
          <a:p>
            <a:pPr indent="0" marL="0">
              <a:buNone/>
            </a:pPr>
            <a:r>
              <a:rPr lang="en-US" sz="1300" b="1" dirty="0">
                <a:solidFill>
                  <a:srgbClr val="B4532A"/>
                </a:solidFill>
                <a:latin typeface="Arial" pitchFamily="34" charset="0"/>
                <a:ea typeface="Arial" pitchFamily="34" charset="-122"/>
                <a:cs typeface="Arial" pitchFamily="34" charset="-120"/>
              </a:rPr>
              <a:t>05  </a:t>
            </a:r>
            <a:pPr indent="0" marL="0">
              <a:buNone/>
            </a:pPr>
            <a:r>
              <a:rPr lang="en-US" sz="1300" b="1" i="1" dirty="0">
                <a:solidFill>
                  <a:srgbClr val="B4532A"/>
                </a:solidFill>
                <a:latin typeface="Arial" pitchFamily="34" charset="0"/>
                <a:ea typeface="Arial" pitchFamily="34" charset="-122"/>
                <a:cs typeface="Arial" pitchFamily="34" charset="-120"/>
              </a:rPr>
              <a:t>[Registration]</a:t>
            </a:r>
            <a:endParaRPr lang="en-US" sz="1300" dirty="0"/>
          </a:p>
        </p:txBody>
      </p:sp>
      <p:sp>
        <p:nvSpPr>
          <p:cNvPr id="23" name="Text 21"/>
          <p:cNvSpPr txBox="1"/>
          <p:nvPr/>
        </p:nvSpPr>
        <p:spPr>
          <a:xfrm>
            <a:off x="548640" y="5486400"/>
            <a:ext cx="11094415" cy="320040"/>
          </a:xfrm>
          <a:prstGeom prst="rect">
            <a:avLst/>
          </a:prstGeom>
          <a:noFill/>
          <a:ln/>
        </p:spPr>
        <p:txBody>
          <a:bodyPr wrap="square" lIns="0" tIns="0" rIns="0" bIns="0" rtlCol="0" anchor="t"/>
          <a:lstStyle/>
          <a:p>
            <a:pPr indent="0" marL="0">
              <a:buNone/>
            </a:pPr>
            <a:r>
              <a:rPr lang="en-US" sz="1100" i="1" dirty="0">
                <a:solidFill>
                  <a:srgbClr val="B4532A"/>
                </a:solidFill>
                <a:latin typeface="Arial" pitchFamily="34" charset="0"/>
                <a:ea typeface="Arial" pitchFamily="34" charset="-122"/>
                <a:cs typeface="Arial" pitchFamily="34" charset="-120"/>
              </a:rPr>
              <a:t>[Rename the five steps to match the real visitor route. If you draw this route now rather than from the original plans, say so: "Visitor route, mapped after the event."]</a:t>
            </a:r>
            <a:endParaRPr lang="en-US" sz="1100" dirty="0"/>
          </a:p>
        </p:txBody>
      </p:sp>
      <p:sp>
        <p:nvSpPr>
          <p:cNvPr id="24" name="Text 22"/>
          <p:cNvSpPr txBox="1"/>
          <p:nvPr/>
        </p:nvSpPr>
        <p:spPr>
          <a:xfrm>
            <a:off x="548640" y="5897880"/>
            <a:ext cx="11094415" cy="457200"/>
          </a:xfrm>
          <a:prstGeom prst="rect">
            <a:avLst/>
          </a:prstGeom>
          <a:noFill/>
          <a:ln/>
        </p:spPr>
        <p:txBody>
          <a:bodyPr wrap="square" lIns="0" tIns="0" rIns="0" bIns="0" rtlCol="0" anchor="t"/>
          <a:lstStyle/>
          <a:p>
            <a:pPr indent="0" marL="0">
              <a:buNone/>
            </a:pPr>
            <a:r>
              <a:rPr lang="en-US" sz="1400" dirty="0">
                <a:solidFill>
                  <a:srgbClr val="1F2A2A"/>
                </a:solidFill>
                <a:latin typeface="Arial" pitchFamily="34" charset="0"/>
                <a:ea typeface="Arial" pitchFamily="34" charset="-122"/>
                <a:cs typeface="Arial" pitchFamily="34" charset="-120"/>
              </a:rPr>
              <a:t>Result:  </a:t>
            </a:r>
            <a:pPr indent="0" marL="0">
              <a:buNone/>
            </a:pPr>
            <a:r>
              <a:rPr lang="en-US" sz="1400" i="1" dirty="0">
                <a:solidFill>
                  <a:srgbClr val="B4532A"/>
                </a:solidFill>
                <a:latin typeface="Arial" pitchFamily="34" charset="0"/>
                <a:ea typeface="Arial" pitchFamily="34" charset="-122"/>
                <a:cs typeface="Arial" pitchFamily="34" charset="-120"/>
              </a:rPr>
              <a:t>[Registrations, attendance, or what you saw on the day. If there is no figure, one honest observation.]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997135" cy="274320"/>
          </a:xfrm>
          <a:prstGeom prst="rect">
            <a:avLst/>
          </a:prstGeom>
          <a:noFill/>
          <a:ln/>
        </p:spPr>
        <p:txBody>
          <a:bodyPr wrap="square" lIns="0" tIns="0" rIns="0" bIns="0" rtlCol="0" anchor="t"/>
          <a:lstStyle/>
          <a:p>
            <a:pPr indent="0" marL="0">
              <a:buNone/>
            </a:pPr>
            <a:r>
              <a:rPr lang="en-US" sz="1100" b="1" spc="100" kern="0" dirty="0">
                <a:solidFill>
                  <a:srgbClr val="6B7472"/>
                </a:solidFill>
                <a:latin typeface="Arial" pitchFamily="34" charset="0"/>
                <a:ea typeface="Arial" pitchFamily="34" charset="-122"/>
                <a:cs typeface="Arial" pitchFamily="34" charset="-120"/>
              </a:rPr>
              <a:t>03   MOTHER, BABY &amp; CHILD   Consumer health magazine, CPI Media Group, </a:t>
            </a:r>
            <a:pPr indent="0" marL="0">
              <a:buNone/>
            </a:pPr>
            <a:r>
              <a:rPr lang="en-US" sz="1100" b="1" i="1" spc="100" kern="0" dirty="0">
                <a:solidFill>
                  <a:srgbClr val="B4532A"/>
                </a:solidFill>
                <a:latin typeface="Arial" pitchFamily="34" charset="0"/>
                <a:ea typeface="Arial" pitchFamily="34" charset="-122"/>
                <a:cs typeface="Arial" pitchFamily="34" charset="-120"/>
              </a:rPr>
              <a:t>[year]</a:t>
            </a:r>
            <a:endParaRPr lang="en-US" sz="1100" dirty="0"/>
          </a:p>
        </p:txBody>
      </p:sp>
      <p:sp>
        <p:nvSpPr>
          <p:cNvPr id="3" name="Text 1"/>
          <p:cNvSpPr txBox="1"/>
          <p:nvPr/>
        </p:nvSpPr>
        <p:spPr>
          <a:xfrm>
            <a:off x="10728655" y="384048"/>
            <a:ext cx="914400" cy="274320"/>
          </a:xfrm>
          <a:prstGeom prst="rect">
            <a:avLst/>
          </a:prstGeom>
          <a:noFill/>
          <a:ln/>
        </p:spPr>
        <p:txBody>
          <a:bodyPr wrap="square" lIns="0" tIns="0" rIns="0" bIns="0" rtlCol="0" anchor="t"/>
          <a:lstStyle/>
          <a:p>
            <a:pPr algn="r" indent="0" marL="0">
              <a:buNone/>
            </a:pPr>
            <a:r>
              <a:rPr lang="en-US" sz="1100" dirty="0">
                <a:solidFill>
                  <a:srgbClr val="6B7472"/>
                </a:solidFill>
                <a:latin typeface="Arial" pitchFamily="34" charset="0"/>
                <a:ea typeface="Arial" pitchFamily="34" charset="-122"/>
                <a:cs typeface="Arial" pitchFamily="34" charset="-120"/>
              </a:rPr>
              <a:t>5 / 6</a:t>
            </a:r>
            <a:endParaRPr lang="en-US" sz="1100" dirty="0"/>
          </a:p>
        </p:txBody>
      </p:sp>
      <p:sp>
        <p:nvSpPr>
          <p:cNvPr id="4" name="Text 2"/>
          <p:cNvSpPr txBox="1"/>
          <p:nvPr/>
        </p:nvSpPr>
        <p:spPr>
          <a:xfrm>
            <a:off x="548640" y="777240"/>
            <a:ext cx="4754880" cy="1188720"/>
          </a:xfrm>
          <a:prstGeom prst="rect">
            <a:avLst/>
          </a:prstGeom>
          <a:noFill/>
          <a:ln/>
        </p:spPr>
        <p:txBody>
          <a:bodyPr wrap="square" lIns="0" tIns="0" rIns="0" bIns="0" rtlCol="0" anchor="t"/>
          <a:lstStyle/>
          <a:p>
            <a:pPr indent="0" marL="0">
              <a:buNone/>
            </a:pPr>
            <a:r>
              <a:rPr lang="en-US" sz="3400" b="1" dirty="0">
                <a:solidFill>
                  <a:srgbClr val="1F2A2A"/>
                </a:solidFill>
                <a:latin typeface="Cambria" pitchFamily="34" charset="0"/>
                <a:ea typeface="Cambria" pitchFamily="34" charset="-122"/>
                <a:cs typeface="Cambria" pitchFamily="34" charset="-120"/>
              </a:rPr>
              <a:t>Health information, redesigned for parents</a:t>
            </a:r>
            <a:endParaRPr lang="en-US" sz="3400" dirty="0"/>
          </a:p>
        </p:txBody>
      </p:sp>
      <p:sp>
        <p:nvSpPr>
          <p:cNvPr id="5" name="Text 3"/>
          <p:cNvSpPr txBox="1"/>
          <p:nvPr/>
        </p:nvSpPr>
        <p:spPr>
          <a:xfrm>
            <a:off x="548640" y="2103120"/>
            <a:ext cx="4754880" cy="2194560"/>
          </a:xfrm>
          <a:prstGeom prst="rect">
            <a:avLst/>
          </a:prstGeom>
          <a:noFill/>
          <a:ln/>
        </p:spPr>
        <p:txBody>
          <a:bodyPr wrap="square" lIns="0" tIns="0" rIns="0" bIns="0" rtlCol="0" anchor="t"/>
          <a:lstStyle/>
          <a:p>
            <a:pPr indent="0" marL="0">
              <a:spcAft>
                <a:spcPts val="900"/>
              </a:spcAft>
              <a:buNone/>
            </a:pPr>
            <a:r>
              <a:rPr lang="en-US" sz="1400" dirty="0">
                <a:solidFill>
                  <a:srgbClr val="1F2A2A"/>
                </a:solidFill>
                <a:latin typeface="Arial" pitchFamily="34" charset="0"/>
                <a:ea typeface="Arial" pitchFamily="34" charset="-122"/>
                <a:cs typeface="Arial" pitchFamily="34" charset="-120"/>
              </a:rPr>
              <a:t>Mother, Baby &amp; Child is a health magazine for </a:t>
            </a:r>
            <a:pPr indent="0" marL="0">
              <a:spcAft>
                <a:spcPts val="900"/>
              </a:spcAft>
              <a:buNone/>
            </a:pPr>
            <a:r>
              <a:rPr lang="en-US" sz="1400" i="1" dirty="0">
                <a:solidFill>
                  <a:srgbClr val="B4532A"/>
                </a:solidFill>
                <a:latin typeface="Arial" pitchFamily="34" charset="0"/>
                <a:ea typeface="Arial" pitchFamily="34" charset="-122"/>
                <a:cs typeface="Arial" pitchFamily="34" charset="-120"/>
              </a:rPr>
              <a:t>[who the readers were, where, in which language]</a:t>
            </a:r>
            <a:pPr indent="0" marL="0">
              <a:spcAft>
                <a:spcPts val="900"/>
              </a:spcAft>
              <a:buNone/>
            </a:pPr>
            <a:r>
              <a:rPr lang="en-US" sz="1400" dirty="0">
                <a:solidFill>
                  <a:srgbClr val="1F2A2A"/>
                </a:solidFill>
                <a:latin typeface="Arial" pitchFamily="34" charset="0"/>
                <a:ea typeface="Arial" pitchFamily="34" charset="-122"/>
                <a:cs typeface="Arial" pitchFamily="34" charset="-120"/>
              </a:rPr>
              <a:t>. I led its rebrand.</a:t>
            </a:r>
            <a:endParaRPr lang="en-US" sz="1400" dirty="0"/>
          </a:p>
          <a:p>
            <a:pPr indent="0" marL="0">
              <a:spcAft>
                <a:spcPts val="900"/>
              </a:spcAft>
              <a:buNone/>
            </a:pPr>
            <a:r>
              <a:rPr lang="en-US" sz="1400" i="1" dirty="0">
                <a:solidFill>
                  <a:srgbClr val="B4532A"/>
                </a:solidFill>
                <a:latin typeface="Arial" pitchFamily="34" charset="0"/>
                <a:ea typeface="Arial" pitchFamily="34" charset="-122"/>
                <a:cs typeface="Arial" pitchFamily="34" charset="-120"/>
              </a:rPr>
              <a:t>[What was wrong before: what made it hard to read, find or trust.]</a:t>
            </a:r>
            <a:endParaRPr lang="en-US" sz="1400" dirty="0"/>
          </a:p>
          <a:p>
            <a:pPr indent="0" marL="0">
              <a:spcAft>
                <a:spcPts val="900"/>
              </a:spcAft>
              <a:buNone/>
            </a:pPr>
            <a:r>
              <a:rPr lang="en-US" sz="1400" i="1" dirty="0">
                <a:solidFill>
                  <a:srgbClr val="B4532A"/>
                </a:solidFill>
                <a:latin typeface="Arial" pitchFamily="34" charset="0"/>
                <a:ea typeface="Arial" pitchFamily="34" charset="-122"/>
                <a:cs typeface="Arial" pitchFamily="34" charset="-120"/>
              </a:rPr>
              <a:t>[What you set out to change, and why.]</a:t>
            </a:r>
            <a:endParaRPr lang="en-US" sz="1400" dirty="0"/>
          </a:p>
        </p:txBody>
      </p:sp>
      <p:sp>
        <p:nvSpPr>
          <p:cNvPr id="6" name="Text 4"/>
          <p:cNvSpPr txBox="1"/>
          <p:nvPr/>
        </p:nvSpPr>
        <p:spPr>
          <a:xfrm>
            <a:off x="548640" y="4343400"/>
            <a:ext cx="2743200" cy="914400"/>
          </a:xfrm>
          <a:prstGeom prst="rect">
            <a:avLst/>
          </a:prstGeom>
          <a:noFill/>
          <a:ln/>
        </p:spPr>
        <p:txBody>
          <a:bodyPr wrap="square" lIns="0" tIns="0" rIns="0" bIns="0" rtlCol="0" anchor="t"/>
          <a:lstStyle/>
          <a:p>
            <a:pPr indent="0" marL="0">
              <a:buNone/>
            </a:pPr>
            <a:r>
              <a:rPr lang="en-US" sz="6000" b="1" dirty="0">
                <a:solidFill>
                  <a:srgbClr val="B4532A"/>
                </a:solidFill>
                <a:latin typeface="Cambria" pitchFamily="34" charset="0"/>
                <a:ea typeface="Cambria" pitchFamily="34" charset="-122"/>
                <a:cs typeface="Cambria" pitchFamily="34" charset="-120"/>
              </a:rPr>
              <a:t>+38%</a:t>
            </a:r>
            <a:endParaRPr lang="en-US" sz="6000" dirty="0"/>
          </a:p>
        </p:txBody>
      </p:sp>
      <p:sp>
        <p:nvSpPr>
          <p:cNvPr id="7" name="Text 5"/>
          <p:cNvSpPr txBox="1"/>
          <p:nvPr/>
        </p:nvSpPr>
        <p:spPr>
          <a:xfrm>
            <a:off x="548640" y="5257800"/>
            <a:ext cx="3291840" cy="457200"/>
          </a:xfrm>
          <a:prstGeom prst="rect">
            <a:avLst/>
          </a:prstGeom>
          <a:noFill/>
          <a:ln/>
        </p:spPr>
        <p:txBody>
          <a:bodyPr wrap="square" lIns="0" tIns="0" rIns="0" bIns="0" rtlCol="0" anchor="t"/>
          <a:lstStyle/>
          <a:p>
            <a:pPr indent="0" marL="0">
              <a:buNone/>
            </a:pPr>
            <a:r>
              <a:rPr lang="en-US" sz="1200" dirty="0">
                <a:solidFill>
                  <a:srgbClr val="6B7472"/>
                </a:solidFill>
                <a:latin typeface="Arial" pitchFamily="34" charset="0"/>
                <a:ea typeface="Arial" pitchFamily="34" charset="-122"/>
                <a:cs typeface="Arial" pitchFamily="34" charset="-120"/>
              </a:rPr>
              <a:t>subscriber growth in the period after the rebrand </a:t>
            </a:r>
            <a:pPr indent="0" marL="0">
              <a:buNone/>
            </a:pPr>
            <a:r>
              <a:rPr lang="en-US" sz="1200" i="1" dirty="0">
                <a:solidFill>
                  <a:srgbClr val="B4532A"/>
                </a:solidFill>
                <a:latin typeface="Arial" pitchFamily="34" charset="0"/>
                <a:ea typeface="Arial" pitchFamily="34" charset="-122"/>
                <a:cs typeface="Arial" pitchFamily="34" charset="-120"/>
              </a:rPr>
              <a:t>[period]</a:t>
            </a:r>
            <a:endParaRPr lang="en-US" sz="1200" dirty="0"/>
          </a:p>
        </p:txBody>
      </p:sp>
      <p:sp>
        <p:nvSpPr>
          <p:cNvPr id="8" name="Text 6"/>
          <p:cNvSpPr txBox="1"/>
          <p:nvPr/>
        </p:nvSpPr>
        <p:spPr>
          <a:xfrm>
            <a:off x="548640" y="5760720"/>
            <a:ext cx="4754880" cy="640080"/>
          </a:xfrm>
          <a:prstGeom prst="rect">
            <a:avLst/>
          </a:prstGeom>
          <a:noFill/>
          <a:ln/>
        </p:spPr>
        <p:txBody>
          <a:bodyPr wrap="square" lIns="0" tIns="0" rIns="0" bIns="0" rtlCol="0" anchor="t"/>
          <a:lstStyle/>
          <a:p>
            <a:pPr indent="0" marL="0">
              <a:buNone/>
            </a:pPr>
            <a:r>
              <a:rPr lang="en-US" sz="1200" dirty="0">
                <a:solidFill>
                  <a:srgbClr val="1F2A2A"/>
                </a:solidFill>
                <a:latin typeface="Arial" pitchFamily="34" charset="0"/>
                <a:ea typeface="Arial" pitchFamily="34" charset="-122"/>
                <a:cs typeface="Arial" pitchFamily="34" charset="-120"/>
              </a:rPr>
              <a:t>My role: art director. I led the rebrand. </a:t>
            </a:r>
            <a:pPr indent="0" marL="0">
              <a:buNone/>
            </a:pPr>
            <a:r>
              <a:rPr lang="en-US" sz="1200" i="1" dirty="0">
                <a:solidFill>
                  <a:srgbClr val="B4532A"/>
                </a:solidFill>
                <a:latin typeface="Arial" pitchFamily="34" charset="0"/>
                <a:ea typeface="Arial" pitchFamily="34" charset="-122"/>
                <a:cs typeface="Arial" pitchFamily="34" charset="-120"/>
              </a:rPr>
              <a:t>[What you designed yourself, and who else worked on it.]</a:t>
            </a:r>
            <a:endParaRPr lang="en-US" sz="1200" dirty="0"/>
          </a:p>
        </p:txBody>
      </p:sp>
      <p:sp>
        <p:nvSpPr>
          <p:cNvPr id="9" name="Before cover"/>
          <p:cNvSpPr/>
          <p:nvPr/>
        </p:nvSpPr>
        <p:spPr>
          <a:xfrm>
            <a:off x="5669280" y="777240"/>
            <a:ext cx="2894076" cy="5577840"/>
          </a:xfrm>
          <a:prstGeom prst="rect">
            <a:avLst/>
          </a:prstGeom>
          <a:solidFill>
            <a:srgbClr val="E6E9E8"/>
          </a:solidFill>
          <a:ln/>
        </p:spPr>
      </p:sp>
      <p:sp>
        <p:nvSpPr>
          <p:cNvPr id="10" name="Image label (delete after adding photo)"/>
          <p:cNvSpPr txBox="1"/>
          <p:nvPr/>
        </p:nvSpPr>
        <p:spPr>
          <a:xfrm>
            <a:off x="5806440" y="886968"/>
            <a:ext cx="2619756"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BEFORE  Cover of the old magazine</a:t>
            </a:r>
            <a:endParaRPr lang="en-US" sz="1000" dirty="0"/>
          </a:p>
        </p:txBody>
      </p:sp>
      <p:sp>
        <p:nvSpPr>
          <p:cNvPr id="11" name="After cover"/>
          <p:cNvSpPr/>
          <p:nvPr/>
        </p:nvSpPr>
        <p:spPr>
          <a:xfrm>
            <a:off x="8746236" y="777240"/>
            <a:ext cx="2894076" cy="5577840"/>
          </a:xfrm>
          <a:prstGeom prst="rect">
            <a:avLst/>
          </a:prstGeom>
          <a:solidFill>
            <a:srgbClr val="E6E9E8"/>
          </a:solidFill>
          <a:ln/>
        </p:spPr>
      </p:sp>
      <p:sp>
        <p:nvSpPr>
          <p:cNvPr id="12" name="Image label (delete after adding photo)"/>
          <p:cNvSpPr txBox="1"/>
          <p:nvPr/>
        </p:nvSpPr>
        <p:spPr>
          <a:xfrm>
            <a:off x="8883396" y="886968"/>
            <a:ext cx="2619756"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AFTER  Cover after the rebrand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997135" cy="274320"/>
          </a:xfrm>
          <a:prstGeom prst="rect">
            <a:avLst/>
          </a:prstGeom>
          <a:noFill/>
          <a:ln/>
        </p:spPr>
        <p:txBody>
          <a:bodyPr wrap="square" lIns="0" tIns="0" rIns="0" bIns="0" rtlCol="0" anchor="t"/>
          <a:lstStyle/>
          <a:p>
            <a:pPr indent="0" marL="0">
              <a:buNone/>
            </a:pPr>
            <a:r>
              <a:rPr lang="en-US" sz="1100" b="1" spc="100" kern="0" dirty="0">
                <a:solidFill>
                  <a:srgbClr val="6B7472"/>
                </a:solidFill>
                <a:latin typeface="Arial" pitchFamily="34" charset="0"/>
                <a:ea typeface="Arial" pitchFamily="34" charset="-122"/>
                <a:cs typeface="Arial" pitchFamily="34" charset="-120"/>
              </a:rPr>
              <a:t>03   MOTHER, BABY &amp; CHILD   What changed</a:t>
            </a:r>
            <a:endParaRPr lang="en-US" sz="1100" dirty="0"/>
          </a:p>
        </p:txBody>
      </p:sp>
      <p:sp>
        <p:nvSpPr>
          <p:cNvPr id="3" name="Text 1"/>
          <p:cNvSpPr txBox="1"/>
          <p:nvPr/>
        </p:nvSpPr>
        <p:spPr>
          <a:xfrm>
            <a:off x="10728655" y="384048"/>
            <a:ext cx="914400" cy="274320"/>
          </a:xfrm>
          <a:prstGeom prst="rect">
            <a:avLst/>
          </a:prstGeom>
          <a:noFill/>
          <a:ln/>
        </p:spPr>
        <p:txBody>
          <a:bodyPr wrap="square" lIns="0" tIns="0" rIns="0" bIns="0" rtlCol="0" anchor="t"/>
          <a:lstStyle/>
          <a:p>
            <a:pPr algn="r" indent="0" marL="0">
              <a:buNone/>
            </a:pPr>
            <a:r>
              <a:rPr lang="en-US" sz="1100" dirty="0">
                <a:solidFill>
                  <a:srgbClr val="6B7472"/>
                </a:solidFill>
                <a:latin typeface="Arial" pitchFamily="34" charset="0"/>
                <a:ea typeface="Arial" pitchFamily="34" charset="-122"/>
                <a:cs typeface="Arial" pitchFamily="34" charset="-120"/>
              </a:rPr>
              <a:t>6 / 6</a:t>
            </a:r>
            <a:endParaRPr lang="en-US" sz="1100" dirty="0"/>
          </a:p>
        </p:txBody>
      </p:sp>
      <p:sp>
        <p:nvSpPr>
          <p:cNvPr id="4" name="Text 2"/>
          <p:cNvSpPr txBox="1"/>
          <p:nvPr/>
        </p:nvSpPr>
        <p:spPr>
          <a:xfrm>
            <a:off x="548640" y="777240"/>
            <a:ext cx="5486400" cy="685800"/>
          </a:xfrm>
          <a:prstGeom prst="rect">
            <a:avLst/>
          </a:prstGeom>
          <a:noFill/>
          <a:ln/>
        </p:spPr>
        <p:txBody>
          <a:bodyPr wrap="square" lIns="0" tIns="0" rIns="0" bIns="0" rtlCol="0" anchor="t"/>
          <a:lstStyle/>
          <a:p>
            <a:pPr indent="0" marL="0">
              <a:buNone/>
            </a:pPr>
            <a:r>
              <a:rPr lang="en-US" sz="3400" b="1" dirty="0">
                <a:solidFill>
                  <a:srgbClr val="1F2A2A"/>
                </a:solidFill>
                <a:latin typeface="Cambria" pitchFamily="34" charset="0"/>
                <a:ea typeface="Cambria" pitchFamily="34" charset="-122"/>
                <a:cs typeface="Cambria" pitchFamily="34" charset="-120"/>
              </a:rPr>
              <a:t>Inside the pages</a:t>
            </a:r>
            <a:endParaRPr lang="en-US" sz="3400" dirty="0"/>
          </a:p>
        </p:txBody>
      </p:sp>
      <p:sp>
        <p:nvSpPr>
          <p:cNvPr id="5" name="Before spread"/>
          <p:cNvSpPr/>
          <p:nvPr/>
        </p:nvSpPr>
        <p:spPr>
          <a:xfrm>
            <a:off x="548640" y="1691640"/>
            <a:ext cx="5440680" cy="2377440"/>
          </a:xfrm>
          <a:prstGeom prst="rect">
            <a:avLst/>
          </a:prstGeom>
          <a:solidFill>
            <a:srgbClr val="E6E9E8"/>
          </a:solidFill>
          <a:ln/>
        </p:spPr>
      </p:sp>
      <p:sp>
        <p:nvSpPr>
          <p:cNvPr id="6" name="Image label (delete after adding photo)"/>
          <p:cNvSpPr txBox="1"/>
          <p:nvPr/>
        </p:nvSpPr>
        <p:spPr>
          <a:xfrm>
            <a:off x="685800" y="1801368"/>
            <a:ext cx="516636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BEFORE  An inside spread from the old magazine</a:t>
            </a:r>
            <a:endParaRPr lang="en-US" sz="1000" dirty="0"/>
          </a:p>
        </p:txBody>
      </p:sp>
      <p:sp>
        <p:nvSpPr>
          <p:cNvPr id="7" name="After spread"/>
          <p:cNvSpPr/>
          <p:nvPr/>
        </p:nvSpPr>
        <p:spPr>
          <a:xfrm>
            <a:off x="6199632" y="1691640"/>
            <a:ext cx="5440680" cy="2377440"/>
          </a:xfrm>
          <a:prstGeom prst="rect">
            <a:avLst/>
          </a:prstGeom>
          <a:solidFill>
            <a:srgbClr val="E6E9E8"/>
          </a:solidFill>
          <a:ln/>
        </p:spPr>
      </p:sp>
      <p:sp>
        <p:nvSpPr>
          <p:cNvPr id="8" name="Image label (delete after adding photo)"/>
          <p:cNvSpPr txBox="1"/>
          <p:nvPr/>
        </p:nvSpPr>
        <p:spPr>
          <a:xfrm>
            <a:off x="6336792" y="1801368"/>
            <a:ext cx="5166360" cy="548640"/>
          </a:xfrm>
          <a:prstGeom prst="rect">
            <a:avLst/>
          </a:prstGeom>
          <a:noFill/>
          <a:ln/>
        </p:spPr>
        <p:txBody>
          <a:bodyPr wrap="square" lIns="0" tIns="0" rIns="0" bIns="0" rtlCol="0" anchor="t"/>
          <a:lstStyle/>
          <a:p>
            <a:pPr indent="0" marL="0">
              <a:buNone/>
            </a:pPr>
            <a:r>
              <a:rPr lang="en-US" sz="1000" dirty="0">
                <a:solidFill>
                  <a:srgbClr val="6F7977"/>
                </a:solidFill>
                <a:latin typeface="Arial" pitchFamily="34" charset="0"/>
                <a:ea typeface="Arial" pitchFamily="34" charset="-122"/>
                <a:cs typeface="Arial" pitchFamily="34" charset="-120"/>
              </a:rPr>
              <a:t>AFTER  The same kind of spread after the rebrand</a:t>
            </a:r>
            <a:endParaRPr lang="en-US" sz="1000" dirty="0"/>
          </a:p>
        </p:txBody>
      </p:sp>
      <p:sp>
        <p:nvSpPr>
          <p:cNvPr id="9" name="Text 7"/>
          <p:cNvSpPr txBox="1"/>
          <p:nvPr/>
        </p:nvSpPr>
        <p:spPr>
          <a:xfrm>
            <a:off x="548640" y="4297680"/>
            <a:ext cx="3515258" cy="320040"/>
          </a:xfrm>
          <a:prstGeom prst="rect">
            <a:avLst/>
          </a:prstGeom>
          <a:noFill/>
          <a:ln/>
        </p:spPr>
        <p:txBody>
          <a:bodyPr wrap="square" lIns="0" tIns="0" rIns="0" bIns="0" rtlCol="0" anchor="t"/>
          <a:lstStyle/>
          <a:p>
            <a:pPr indent="0" marL="0">
              <a:buNone/>
            </a:pPr>
            <a:r>
              <a:rPr lang="en-US" sz="1500" b="1" i="1" dirty="0">
                <a:solidFill>
                  <a:srgbClr val="B4532A"/>
                </a:solidFill>
                <a:latin typeface="Arial" pitchFamily="34" charset="0"/>
                <a:ea typeface="Arial" pitchFamily="34" charset="-122"/>
                <a:cs typeface="Arial" pitchFamily="34" charset="-120"/>
              </a:rPr>
              <a:t>[Decision 1]</a:t>
            </a:r>
            <a:endParaRPr lang="en-US" sz="1500" dirty="0"/>
          </a:p>
        </p:txBody>
      </p:sp>
      <p:sp>
        <p:nvSpPr>
          <p:cNvPr id="10" name="Text 8"/>
          <p:cNvSpPr txBox="1"/>
          <p:nvPr/>
        </p:nvSpPr>
        <p:spPr>
          <a:xfrm>
            <a:off x="548640" y="4663440"/>
            <a:ext cx="3515258" cy="822960"/>
          </a:xfrm>
          <a:prstGeom prst="rect">
            <a:avLst/>
          </a:prstGeom>
          <a:noFill/>
          <a:ln/>
        </p:spPr>
        <p:txBody>
          <a:bodyPr wrap="square" lIns="0" tIns="0" rIns="0" bIns="0" rtlCol="0" anchor="t"/>
          <a:lstStyle/>
          <a:p>
            <a:pPr indent="0" marL="0">
              <a:buNone/>
            </a:pPr>
            <a:r>
              <a:rPr lang="en-US" sz="1400" i="1" dirty="0">
                <a:solidFill>
                  <a:srgbClr val="B4532A"/>
                </a:solidFill>
                <a:latin typeface="Arial" pitchFamily="34" charset="0"/>
                <a:ea typeface="Arial" pitchFamily="34" charset="-122"/>
                <a:cs typeface="Arial" pitchFamily="34" charset="-120"/>
              </a:rPr>
              <a:t>[For example: how a parent finds the section they need.]</a:t>
            </a:r>
            <a:endParaRPr lang="en-US" sz="1400" dirty="0"/>
          </a:p>
        </p:txBody>
      </p:sp>
      <p:sp>
        <p:nvSpPr>
          <p:cNvPr id="11" name="Text 9"/>
          <p:cNvSpPr txBox="1"/>
          <p:nvPr/>
        </p:nvSpPr>
        <p:spPr>
          <a:xfrm>
            <a:off x="4338218" y="4297680"/>
            <a:ext cx="3515258" cy="320040"/>
          </a:xfrm>
          <a:prstGeom prst="rect">
            <a:avLst/>
          </a:prstGeom>
          <a:noFill/>
          <a:ln/>
        </p:spPr>
        <p:txBody>
          <a:bodyPr wrap="square" lIns="0" tIns="0" rIns="0" bIns="0" rtlCol="0" anchor="t"/>
          <a:lstStyle/>
          <a:p>
            <a:pPr indent="0" marL="0">
              <a:buNone/>
            </a:pPr>
            <a:r>
              <a:rPr lang="en-US" sz="1500" b="1" i="1" dirty="0">
                <a:solidFill>
                  <a:srgbClr val="B4532A"/>
                </a:solidFill>
                <a:latin typeface="Arial" pitchFamily="34" charset="0"/>
                <a:ea typeface="Arial" pitchFamily="34" charset="-122"/>
                <a:cs typeface="Arial" pitchFamily="34" charset="-120"/>
              </a:rPr>
              <a:t>[Decision 2]</a:t>
            </a:r>
            <a:endParaRPr lang="en-US" sz="1500" dirty="0"/>
          </a:p>
        </p:txBody>
      </p:sp>
      <p:sp>
        <p:nvSpPr>
          <p:cNvPr id="12" name="Text 10"/>
          <p:cNvSpPr txBox="1"/>
          <p:nvPr/>
        </p:nvSpPr>
        <p:spPr>
          <a:xfrm>
            <a:off x="4338218" y="4663440"/>
            <a:ext cx="3515258" cy="822960"/>
          </a:xfrm>
          <a:prstGeom prst="rect">
            <a:avLst/>
          </a:prstGeom>
          <a:noFill/>
          <a:ln/>
        </p:spPr>
        <p:txBody>
          <a:bodyPr wrap="square" lIns="0" tIns="0" rIns="0" bIns="0" rtlCol="0" anchor="t"/>
          <a:lstStyle/>
          <a:p>
            <a:pPr indent="0" marL="0">
              <a:buNone/>
            </a:pPr>
            <a:r>
              <a:rPr lang="en-US" sz="1400" i="1" dirty="0">
                <a:solidFill>
                  <a:srgbClr val="B4532A"/>
                </a:solidFill>
                <a:latin typeface="Arial" pitchFamily="34" charset="0"/>
                <a:ea typeface="Arial" pitchFamily="34" charset="-122"/>
                <a:cs typeface="Arial" pitchFamily="34" charset="-120"/>
              </a:rPr>
              <a:t>[For example: how advice, warnings and facts were told apart.]</a:t>
            </a:r>
            <a:endParaRPr lang="en-US" sz="1400" dirty="0"/>
          </a:p>
        </p:txBody>
      </p:sp>
      <p:sp>
        <p:nvSpPr>
          <p:cNvPr id="13" name="Text 11"/>
          <p:cNvSpPr txBox="1"/>
          <p:nvPr/>
        </p:nvSpPr>
        <p:spPr>
          <a:xfrm>
            <a:off x="8127797" y="4297680"/>
            <a:ext cx="3515258" cy="320040"/>
          </a:xfrm>
          <a:prstGeom prst="rect">
            <a:avLst/>
          </a:prstGeom>
          <a:noFill/>
          <a:ln/>
        </p:spPr>
        <p:txBody>
          <a:bodyPr wrap="square" lIns="0" tIns="0" rIns="0" bIns="0" rtlCol="0" anchor="t"/>
          <a:lstStyle/>
          <a:p>
            <a:pPr indent="0" marL="0">
              <a:buNone/>
            </a:pPr>
            <a:r>
              <a:rPr lang="en-US" sz="1500" b="1" i="1" dirty="0">
                <a:solidFill>
                  <a:srgbClr val="B4532A"/>
                </a:solidFill>
                <a:latin typeface="Arial" pitchFamily="34" charset="0"/>
                <a:ea typeface="Arial" pitchFamily="34" charset="-122"/>
                <a:cs typeface="Arial" pitchFamily="34" charset="-120"/>
              </a:rPr>
              <a:t>[Decision 3]</a:t>
            </a:r>
            <a:endParaRPr lang="en-US" sz="1500" dirty="0"/>
          </a:p>
        </p:txBody>
      </p:sp>
      <p:sp>
        <p:nvSpPr>
          <p:cNvPr id="14" name="Text 12"/>
          <p:cNvSpPr txBox="1"/>
          <p:nvPr/>
        </p:nvSpPr>
        <p:spPr>
          <a:xfrm>
            <a:off x="8127797" y="4663440"/>
            <a:ext cx="3515258" cy="822960"/>
          </a:xfrm>
          <a:prstGeom prst="rect">
            <a:avLst/>
          </a:prstGeom>
          <a:noFill/>
          <a:ln/>
        </p:spPr>
        <p:txBody>
          <a:bodyPr wrap="square" lIns="0" tIns="0" rIns="0" bIns="0" rtlCol="0" anchor="t"/>
          <a:lstStyle/>
          <a:p>
            <a:pPr indent="0" marL="0">
              <a:buNone/>
            </a:pPr>
            <a:r>
              <a:rPr lang="en-US" sz="1400" i="1" dirty="0">
                <a:solidFill>
                  <a:srgbClr val="B4532A"/>
                </a:solidFill>
                <a:latin typeface="Arial" pitchFamily="34" charset="0"/>
                <a:ea typeface="Arial" pitchFamily="34" charset="-122"/>
                <a:cs typeface="Arial" pitchFamily="34" charset="-120"/>
              </a:rPr>
              <a:t>[For example: how the photography or illustration changed.]</a:t>
            </a:r>
            <a:endParaRPr lang="en-US" sz="1400" dirty="0"/>
          </a:p>
        </p:txBody>
      </p:sp>
      <p:sp>
        <p:nvSpPr>
          <p:cNvPr id="15" name="Text 13"/>
          <p:cNvSpPr txBox="1"/>
          <p:nvPr/>
        </p:nvSpPr>
        <p:spPr>
          <a:xfrm>
            <a:off x="548640" y="5669280"/>
            <a:ext cx="11094415" cy="640080"/>
          </a:xfrm>
          <a:prstGeom prst="rect">
            <a:avLst/>
          </a:prstGeom>
          <a:noFill/>
          <a:ln/>
        </p:spPr>
        <p:txBody>
          <a:bodyPr wrap="square" lIns="0" tIns="0" rIns="0" bIns="0" rtlCol="0" anchor="t"/>
          <a:lstStyle/>
          <a:p>
            <a:pPr indent="0" marL="0">
              <a:buNone/>
            </a:pPr>
            <a:r>
              <a:rPr lang="en-US" sz="1400" dirty="0">
                <a:solidFill>
                  <a:srgbClr val="1F2A2A"/>
                </a:solidFill>
                <a:latin typeface="Arial" pitchFamily="34" charset="0"/>
                <a:ea typeface="Arial" pitchFamily="34" charset="-122"/>
                <a:cs typeface="Arial" pitchFamily="34" charset="-120"/>
              </a:rPr>
              <a:t>What I learned:  </a:t>
            </a:r>
            <a:pPr indent="0" marL="0">
              <a:buNone/>
            </a:pPr>
            <a:r>
              <a:rPr lang="en-US" sz="1400" i="1" dirty="0">
                <a:solidFill>
                  <a:srgbClr val="B4532A"/>
                </a:solidFill>
                <a:latin typeface="Arial" pitchFamily="34" charset="0"/>
                <a:ea typeface="Arial" pitchFamily="34" charset="-122"/>
                <a:cs typeface="Arial" pitchFamily="34" charset="-120"/>
              </a:rPr>
              <a:t>[One sentence in your words. What this project taught you about designing health information, and what you would now test with readers.]</a:t>
            </a:r>
            <a:endParaRPr lang="en-US" sz="1400" dirty="0"/>
          </a:p>
        </p:txBody>
      </p:sp>
    </p:spTree>
  </p:cSld>
  <p:clrMapOvr>
    <a:masterClrMapping/>
  </p:clrMapOvr>
</p:sld>
</file>

<file path=ppt/theme/theme1.xml><?xml version="1.0" encoding="utf-8"?>
<a:theme xmlns:a="http://schemas.openxmlformats.org/drawingml/2006/main" name="Response_Able portfolio">
  <a:themeElements>
    <a:clrScheme name="Response_Able portfolio">
      <a:dk1>
        <a:srgbClr val="1F2A2A"/>
      </a:dk1>
      <a:lt1>
        <a:srgbClr val="FFFFFF"/>
      </a:lt1>
      <a:dk2>
        <a:srgbClr val="2F3B3B"/>
      </a:dk2>
      <a:lt2>
        <a:srgbClr val="F2F4F3"/>
      </a:lt2>
      <a:accent1>
        <a:srgbClr val="B4532A"/>
      </a:accent1>
      <a:accent2>
        <a:srgbClr val="2F5D50"/>
      </a:accent2>
      <a:accent3>
        <a:srgbClr val="8A9A96"/>
      </a:accent3>
      <a:accent4>
        <a:srgbClr val="C9A27E"/>
      </a:accent4>
      <a:accent5>
        <a:srgbClr val="5E7A73"/>
      </a:accent5>
      <a:accent6>
        <a:srgbClr val="D9DEDC"/>
      </a:accent6>
      <a:hlink>
        <a:srgbClr val="B4532A"/>
      </a:hlink>
      <a:folHlink>
        <a:srgbClr val="8A4A2E"/>
      </a:folHlink>
    </a:clrScheme>
    <a:fontScheme name="Response_Able portfoli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Sara Radwan, portfolio</dc:title>
  <dc:subject>PptxGenJS Presentation</dc:subject>
  <dc:creator>Sara Radwan</dc:creator>
  <cp:lastModifiedBy>Sara Radwan</cp:lastModifiedBy>
  <cp:revision>1</cp:revision>
  <dcterms:created xsi:type="dcterms:W3CDTF">2026-10-28T10:53:26Z</dcterms:created>
  <dcterms:modified xsi:type="dcterms:W3CDTF">2026-10-28T10:53:26Z</dcterms:modified>
</cp:coreProperties>
</file>